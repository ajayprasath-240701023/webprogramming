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acb9725a-0a92-ed03-b0f2-54316eb11ed2}">
          <p14:sldIdLst>
            <p14:sldId id="256"/>
            <p14:sldId id="257"/>
          </p14:sldIdLst>
        </p14:section>
        <p14:section name="Product" id="{c5143bf0-290a-152a-784a-b33a9882bd76}">
          <p14:sldIdLst>
            <p14:sldId id="258"/>
            <p14:sldId id="259"/>
          </p14:sldIdLst>
        </p14:section>
        <p14:section name="Engineering" id="{477af873-3a1f-4d2e-578f-cbf38026a119}">
          <p14:sldIdLst>
            <p14:sldId id="260"/>
            <p14:sldId id="261"/>
          </p14:sldIdLst>
        </p14:section>
        <p14:section name="Wrap-up" id="{4ad9c63a-7528-3697-b570-4b5581f9bfe3}">
          <p14:sldIdLst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Allocation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88BFD"/>
              </a:solidFill>
              <a:ln w="12700" cap="flat">
                <a:solidFill>
                  <a:srgbClr val="111827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2DD4E6"/>
              </a:solidFill>
              <a:ln w="12700" cap="flat">
                <a:solidFill>
                  <a:srgbClr val="111827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A78BFA"/>
              </a:solidFill>
              <a:ln w="12700" cap="flat">
                <a:solidFill>
                  <a:srgbClr val="111827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22C58C"/>
              </a:solidFill>
              <a:ln w="12700" cap="flat">
                <a:solidFill>
                  <a:srgbClr val="111827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Technology</c:v>
                </c:pt>
                <c:pt idx="1">
                  <c:v>Banking</c:v>
                </c:pt>
                <c:pt idx="2">
                  <c:v>Energy</c:v>
                </c:pt>
                <c:pt idx="3">
                  <c:v>Cash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30</c:v>
                </c:pt>
                <c:pt idx="1">
                  <c:v>24</c:v>
                </c:pt>
                <c:pt idx="2">
                  <c:v>18</c:v>
                </c:pt>
                <c:pt idx="3">
                  <c:v>28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9AA6B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TradePilot: a full-stack web app for market monitoring, virtual portfolio management and risk analysis. All trading is simulated; figures shown are illustrative.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pain points on the left, TradePilot's answers on the right.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card maps to a page in the app: Markets, Stock Details, Paper Trading, My Portfolio, Analytics &amp; Risk, Profit/Loss Simulator.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Centerpiece: a coherent mock of the Overview page. All values are illustrative: ₹35,000 cash + ₹89,850 holdings = ₹1,24,850.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React talks to FastAPI over REST. FastAPI coordinates four business services which read and update PostgreSQL. Market data comes from the configured provider or the demo provider.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five steps, then the formulas. The worked example is a simulation, not a result.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benefits, the safeguards designed into the app, and the roadmap. The initial version is simulation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08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08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0515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FINTECH  ·  FULL-STACK WEB APPLICATION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46304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TRADEPILOT</a:t>
            </a:r>
            <a:endParaRPr lang="en-US" sz="6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788920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Algorithmic Trading &amp; Personal Portfolio Dashboard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7947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</a:rPr>
              <a:t>Smarter Market Insights. Safer Investment Simulation.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4663440"/>
            <a:ext cx="3931920" cy="1371600"/>
          </a:xfrm>
          <a:prstGeom prst="roundRect">
            <a:avLst>
              <a:gd name="adj" fmla="val 5333"/>
            </a:avLst>
          </a:prstGeom>
          <a:solidFill>
            <a:srgbClr val="0D111B"/>
          </a:solidFill>
          <a:ln w="9525">
            <a:solidFill>
              <a:srgbClr val="25304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482803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chemeClr val="bg2"/>
                </a:solidFill>
              </a:rPr>
              <a:t>PRESENTED BY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505663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Ajay Prasath P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54864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chemeClr val="bg2"/>
                </a:solidFill>
              </a:rPr>
              <a:t>ROLL NUMBER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570585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240701023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0" y="822960"/>
            <a:ext cx="5212080" cy="4297680"/>
          </a:xfrm>
          <a:prstGeom prst="roundRect">
            <a:avLst>
              <a:gd name="adj" fmla="val 1702"/>
            </a:avLst>
          </a:prstGeom>
          <a:solidFill>
            <a:schemeClr val="tx2"/>
          </a:solidFill>
          <a:ln w="9525">
            <a:solidFill>
              <a:srgbClr val="25304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75120" y="1051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DEMO · SIMULATED CANDLES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9966960" y="10515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1D   1W   1M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675120" y="1554480"/>
            <a:ext cx="4663440" cy="0"/>
          </a:xfrm>
          <a:prstGeom prst="line">
            <a:avLst/>
          </a:prstGeom>
          <a:noFill/>
          <a:ln w="6350">
            <a:solidFill>
              <a:srgbClr val="25304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75120" y="2354580"/>
            <a:ext cx="4663440" cy="0"/>
          </a:xfrm>
          <a:prstGeom prst="line">
            <a:avLst/>
          </a:prstGeom>
          <a:noFill/>
          <a:ln w="6350">
            <a:solidFill>
              <a:srgbClr val="25304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75120" y="3154680"/>
            <a:ext cx="4663440" cy="0"/>
          </a:xfrm>
          <a:prstGeom prst="line">
            <a:avLst/>
          </a:prstGeom>
          <a:noFill/>
          <a:ln w="6350">
            <a:solidFill>
              <a:srgbClr val="25304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75120" y="3954780"/>
            <a:ext cx="4663440" cy="0"/>
          </a:xfrm>
          <a:prstGeom prst="line">
            <a:avLst/>
          </a:prstGeom>
          <a:noFill/>
          <a:ln w="6350">
            <a:solidFill>
              <a:srgbClr val="25304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75120" y="4754880"/>
            <a:ext cx="4663440" cy="0"/>
          </a:xfrm>
          <a:prstGeom prst="line">
            <a:avLst/>
          </a:prstGeom>
          <a:noFill/>
          <a:ln w="6350">
            <a:solidFill>
              <a:srgbClr val="25304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43700" y="3692707"/>
            <a:ext cx="0" cy="533599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05295" y="3941048"/>
            <a:ext cx="76810" cy="101164"/>
          </a:xfrm>
          <a:prstGeom prst="rect">
            <a:avLst/>
          </a:prstGeom>
          <a:solidFill>
            <a:schemeClr val="accent6"/>
          </a:solidFill>
          <a:ln w="3175">
            <a:solidFill>
              <a:schemeClr val="accent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80860" y="3806190"/>
            <a:ext cx="0" cy="599011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42455" y="4042212"/>
            <a:ext cx="76810" cy="232577"/>
          </a:xfrm>
          <a:prstGeom prst="rect">
            <a:avLst/>
          </a:prstGeom>
          <a:solidFill>
            <a:schemeClr val="accent6"/>
          </a:solidFill>
          <a:ln w="3175">
            <a:solidFill>
              <a:schemeClr val="accent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018020" y="4011413"/>
            <a:ext cx="0" cy="743467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979615" y="4274790"/>
            <a:ext cx="76810" cy="219090"/>
          </a:xfrm>
          <a:prstGeom prst="rect">
            <a:avLst/>
          </a:prstGeom>
          <a:solidFill>
            <a:schemeClr val="accent6"/>
          </a:solidFill>
          <a:ln w="3175">
            <a:solidFill>
              <a:schemeClr val="accent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55180" y="4276940"/>
            <a:ext cx="0" cy="399442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116775" y="4447234"/>
            <a:ext cx="76810" cy="46645"/>
          </a:xfrm>
          <a:prstGeom prst="rect">
            <a:avLst/>
          </a:prstGeom>
          <a:solidFill>
            <a:schemeClr val="accent3"/>
          </a:solidFill>
          <a:ln w="3175">
            <a:solidFill>
              <a:schemeClr val="accent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292340" y="4030492"/>
            <a:ext cx="0" cy="571299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253935" y="4173089"/>
            <a:ext cx="76810" cy="274145"/>
          </a:xfrm>
          <a:prstGeom prst="rect">
            <a:avLst/>
          </a:prstGeom>
          <a:solidFill>
            <a:schemeClr val="accent3"/>
          </a:solidFill>
          <a:ln w="3175">
            <a:solidFill>
              <a:schemeClr val="accent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429500" y="4016953"/>
            <a:ext cx="0" cy="244487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91095" y="4173089"/>
            <a:ext cx="76810" cy="27432"/>
          </a:xfrm>
          <a:prstGeom prst="rect">
            <a:avLst/>
          </a:prstGeom>
          <a:solidFill>
            <a:schemeClr val="accent6"/>
          </a:solidFill>
          <a:ln w="3175">
            <a:solidFill>
              <a:schemeClr val="accent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566660" y="3746783"/>
            <a:ext cx="0" cy="533208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528255" y="3876581"/>
            <a:ext cx="76810" cy="311875"/>
          </a:xfrm>
          <a:prstGeom prst="rect">
            <a:avLst/>
          </a:prstGeom>
          <a:solidFill>
            <a:schemeClr val="accent3"/>
          </a:solidFill>
          <a:ln w="3175">
            <a:solidFill>
              <a:schemeClr val="accent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703820" y="3726150"/>
            <a:ext cx="0" cy="48332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665415" y="3876581"/>
            <a:ext cx="76810" cy="182128"/>
          </a:xfrm>
          <a:prstGeom prst="rect">
            <a:avLst/>
          </a:prstGeom>
          <a:solidFill>
            <a:schemeClr val="accent6"/>
          </a:solidFill>
          <a:ln w="3175">
            <a:solidFill>
              <a:schemeClr val="accent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840980" y="3872672"/>
            <a:ext cx="0" cy="59206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802575" y="4058709"/>
            <a:ext cx="76810" cy="187706"/>
          </a:xfrm>
          <a:prstGeom prst="rect">
            <a:avLst/>
          </a:prstGeom>
          <a:solidFill>
            <a:schemeClr val="accent6"/>
          </a:solidFill>
          <a:ln w="3175">
            <a:solidFill>
              <a:schemeClr val="accent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978140" y="3842058"/>
            <a:ext cx="0" cy="514436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939735" y="4093143"/>
            <a:ext cx="76810" cy="153273"/>
          </a:xfrm>
          <a:prstGeom prst="rect">
            <a:avLst/>
          </a:prstGeom>
          <a:solidFill>
            <a:schemeClr val="accent3"/>
          </a:solidFill>
          <a:ln w="3175">
            <a:solidFill>
              <a:schemeClr val="accent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115300" y="3973025"/>
            <a:ext cx="0" cy="304975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076895" y="4093143"/>
            <a:ext cx="76810" cy="27432"/>
          </a:xfrm>
          <a:prstGeom prst="rect">
            <a:avLst/>
          </a:prstGeom>
          <a:solidFill>
            <a:schemeClr val="accent6"/>
          </a:solidFill>
          <a:ln w="3175">
            <a:solidFill>
              <a:schemeClr val="accent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252460" y="4028128"/>
            <a:ext cx="0" cy="378996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214055" y="4115255"/>
            <a:ext cx="76810" cy="51929"/>
          </a:xfrm>
          <a:prstGeom prst="rect">
            <a:avLst/>
          </a:prstGeom>
          <a:solidFill>
            <a:schemeClr val="accent6"/>
          </a:solidFill>
          <a:ln w="3175">
            <a:solidFill>
              <a:schemeClr val="accent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389620" y="3901157"/>
            <a:ext cx="0" cy="426492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351215" y="4167184"/>
            <a:ext cx="76810" cy="27432"/>
          </a:xfrm>
          <a:prstGeom prst="rect">
            <a:avLst/>
          </a:prstGeom>
          <a:solidFill>
            <a:schemeClr val="accent6"/>
          </a:solidFill>
          <a:ln w="3175">
            <a:solidFill>
              <a:schemeClr val="accent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526780" y="3920990"/>
            <a:ext cx="0" cy="519548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488375" y="4170862"/>
            <a:ext cx="76810" cy="90813"/>
          </a:xfrm>
          <a:prstGeom prst="rect">
            <a:avLst/>
          </a:prstGeom>
          <a:solidFill>
            <a:schemeClr val="accent6"/>
          </a:solidFill>
          <a:ln w="3175">
            <a:solidFill>
              <a:schemeClr val="accent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663940" y="4115688"/>
            <a:ext cx="0" cy="382949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625535" y="4261675"/>
            <a:ext cx="76810" cy="145487"/>
          </a:xfrm>
          <a:prstGeom prst="rect">
            <a:avLst/>
          </a:prstGeom>
          <a:solidFill>
            <a:schemeClr val="accent6"/>
          </a:solidFill>
          <a:ln w="3175">
            <a:solidFill>
              <a:schemeClr val="accent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801100" y="3978593"/>
            <a:ext cx="0" cy="512812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762695" y="4194180"/>
            <a:ext cx="76810" cy="212982"/>
          </a:xfrm>
          <a:prstGeom prst="rect">
            <a:avLst/>
          </a:prstGeom>
          <a:solidFill>
            <a:schemeClr val="accent3"/>
          </a:solidFill>
          <a:ln w="3175">
            <a:solidFill>
              <a:schemeClr val="accent3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938260" y="3704546"/>
            <a:ext cx="0" cy="622256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899855" y="3946340"/>
            <a:ext cx="76810" cy="247840"/>
          </a:xfrm>
          <a:prstGeom prst="rect">
            <a:avLst/>
          </a:prstGeom>
          <a:solidFill>
            <a:schemeClr val="accent3"/>
          </a:solidFill>
          <a:ln w="3175">
            <a:solidFill>
              <a:schemeClr val="accent3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075420" y="3540090"/>
            <a:ext cx="0" cy="567106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037015" y="3770314"/>
            <a:ext cx="76810" cy="176026"/>
          </a:xfrm>
          <a:prstGeom prst="rect">
            <a:avLst/>
          </a:prstGeom>
          <a:solidFill>
            <a:schemeClr val="accent3"/>
          </a:solidFill>
          <a:ln w="3175">
            <a:solidFill>
              <a:schemeClr val="accent3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212580" y="3234411"/>
            <a:ext cx="0" cy="658513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174175" y="3492079"/>
            <a:ext cx="76810" cy="278235"/>
          </a:xfrm>
          <a:prstGeom prst="rect">
            <a:avLst/>
          </a:prstGeom>
          <a:solidFill>
            <a:schemeClr val="accent3"/>
          </a:solidFill>
          <a:ln w="3175">
            <a:solidFill>
              <a:schemeClr val="accent3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349740" y="3379532"/>
            <a:ext cx="0" cy="491734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311335" y="3492079"/>
            <a:ext cx="76810" cy="123122"/>
          </a:xfrm>
          <a:prstGeom prst="rect">
            <a:avLst/>
          </a:prstGeom>
          <a:solidFill>
            <a:schemeClr val="accent6"/>
          </a:solidFill>
          <a:ln w="3175">
            <a:solidFill>
              <a:schemeClr val="accent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486900" y="3550712"/>
            <a:ext cx="0" cy="302536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448495" y="3615201"/>
            <a:ext cx="76810" cy="121966"/>
          </a:xfrm>
          <a:prstGeom prst="rect">
            <a:avLst/>
          </a:prstGeom>
          <a:solidFill>
            <a:schemeClr val="accent6"/>
          </a:solidFill>
          <a:ln w="3175">
            <a:solidFill>
              <a:schemeClr val="accent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624060" y="3378443"/>
            <a:ext cx="0" cy="520790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9585655" y="3476762"/>
            <a:ext cx="76810" cy="260405"/>
          </a:xfrm>
          <a:prstGeom prst="rect">
            <a:avLst/>
          </a:prstGeom>
          <a:solidFill>
            <a:schemeClr val="accent3"/>
          </a:solidFill>
          <a:ln w="3175">
            <a:solidFill>
              <a:schemeClr val="accent3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9761220" y="3330297"/>
            <a:ext cx="0" cy="275015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9722815" y="3454066"/>
            <a:ext cx="76810" cy="27432"/>
          </a:xfrm>
          <a:prstGeom prst="rect">
            <a:avLst/>
          </a:prstGeom>
          <a:solidFill>
            <a:schemeClr val="accent3"/>
          </a:solidFill>
          <a:ln w="3175">
            <a:solidFill>
              <a:schemeClr val="accent3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898380" y="3019787"/>
            <a:ext cx="0" cy="632539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859975" y="3116791"/>
            <a:ext cx="76810" cy="337275"/>
          </a:xfrm>
          <a:prstGeom prst="rect">
            <a:avLst/>
          </a:prstGeom>
          <a:solidFill>
            <a:schemeClr val="accent3"/>
          </a:solidFill>
          <a:ln w="3175">
            <a:solidFill>
              <a:schemeClr val="accent3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0035540" y="2967423"/>
            <a:ext cx="0" cy="314547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9997135" y="3078113"/>
            <a:ext cx="76810" cy="38679"/>
          </a:xfrm>
          <a:prstGeom prst="rect">
            <a:avLst/>
          </a:prstGeom>
          <a:solidFill>
            <a:schemeClr val="accent3"/>
          </a:solidFill>
          <a:ln w="3175">
            <a:solidFill>
              <a:schemeClr val="accent3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0172700" y="2942372"/>
            <a:ext cx="0" cy="485631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0134295" y="3078113"/>
            <a:ext cx="76810" cy="197087"/>
          </a:xfrm>
          <a:prstGeom prst="rect">
            <a:avLst/>
          </a:prstGeom>
          <a:solidFill>
            <a:schemeClr val="accent6"/>
          </a:solidFill>
          <a:ln w="3175">
            <a:solidFill>
              <a:schemeClr val="accent6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0309860" y="2725889"/>
            <a:ext cx="0" cy="652106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0271455" y="2944412"/>
            <a:ext cx="76810" cy="330787"/>
          </a:xfrm>
          <a:prstGeom prst="rect">
            <a:avLst/>
          </a:prstGeom>
          <a:solidFill>
            <a:schemeClr val="accent3"/>
          </a:solidFill>
          <a:ln w="3175">
            <a:solidFill>
              <a:schemeClr val="accent3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0447020" y="2735787"/>
            <a:ext cx="0" cy="420457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0408615" y="2805400"/>
            <a:ext cx="76810" cy="139012"/>
          </a:xfrm>
          <a:prstGeom prst="rect">
            <a:avLst/>
          </a:prstGeom>
          <a:solidFill>
            <a:schemeClr val="accent3"/>
          </a:solidFill>
          <a:ln w="3175">
            <a:solidFill>
              <a:schemeClr val="accent3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0584180" y="2446545"/>
            <a:ext cx="0" cy="424354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0545775" y="2681790"/>
            <a:ext cx="76810" cy="123610"/>
          </a:xfrm>
          <a:prstGeom prst="rect">
            <a:avLst/>
          </a:prstGeom>
          <a:solidFill>
            <a:schemeClr val="accent3"/>
          </a:solidFill>
          <a:ln w="3175">
            <a:solidFill>
              <a:schemeClr val="accent3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0721340" y="2380602"/>
            <a:ext cx="0" cy="549025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0682935" y="2646358"/>
            <a:ext cx="76810" cy="35432"/>
          </a:xfrm>
          <a:prstGeom prst="rect">
            <a:avLst/>
          </a:prstGeom>
          <a:solidFill>
            <a:schemeClr val="accent3"/>
          </a:solidFill>
          <a:ln w="3175">
            <a:solidFill>
              <a:schemeClr val="accent3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0858500" y="2412057"/>
            <a:ext cx="0" cy="532224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0820095" y="2646358"/>
            <a:ext cx="76810" cy="71269"/>
          </a:xfrm>
          <a:prstGeom prst="rect">
            <a:avLst/>
          </a:prstGeom>
          <a:solidFill>
            <a:schemeClr val="accent6"/>
          </a:solidFill>
          <a:ln w="3175">
            <a:solidFill>
              <a:schemeClr val="accent6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0995660" y="2264262"/>
            <a:ext cx="0" cy="695342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0957255" y="2323899"/>
            <a:ext cx="76810" cy="393728"/>
          </a:xfrm>
          <a:prstGeom prst="rect">
            <a:avLst/>
          </a:prstGeom>
          <a:solidFill>
            <a:schemeClr val="accent3"/>
          </a:solidFill>
          <a:ln w="3175">
            <a:solidFill>
              <a:schemeClr val="accent3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1132820" y="1805694"/>
            <a:ext cx="0" cy="768874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1094415" y="1910478"/>
            <a:ext cx="76810" cy="413421"/>
          </a:xfrm>
          <a:prstGeom prst="rect">
            <a:avLst/>
          </a:prstGeom>
          <a:solidFill>
            <a:schemeClr val="accent3"/>
          </a:solidFill>
          <a:ln w="3175">
            <a:solidFill>
              <a:schemeClr val="accent3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1269980" y="1554480"/>
            <a:ext cx="0" cy="488743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1231575" y="1727871"/>
            <a:ext cx="76810" cy="182607"/>
          </a:xfrm>
          <a:prstGeom prst="rect">
            <a:avLst/>
          </a:prstGeom>
          <a:solidFill>
            <a:schemeClr val="accent3"/>
          </a:solidFill>
          <a:ln w="3175">
            <a:solidFill>
              <a:schemeClr val="accent3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6743700" y="3991630"/>
            <a:ext cx="137160" cy="166871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6880860" y="4158501"/>
            <a:ext cx="137160" cy="225834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7018020" y="4384335"/>
            <a:ext cx="137160" cy="86222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 flipV="1">
            <a:off x="7155180" y="4310162"/>
            <a:ext cx="137160" cy="160395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 flipV="1">
            <a:off x="7292340" y="4180772"/>
            <a:ext cx="137160" cy="129389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 flipV="1">
            <a:off x="7429500" y="4032518"/>
            <a:ext cx="137160" cy="148254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 flipV="1">
            <a:off x="7566660" y="3967645"/>
            <a:ext cx="137160" cy="64873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7703820" y="3967645"/>
            <a:ext cx="137160" cy="184917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7840980" y="4152562"/>
            <a:ext cx="137160" cy="17217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 flipV="1">
            <a:off x="7978140" y="4104199"/>
            <a:ext cx="137160" cy="6558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8115300" y="4104199"/>
            <a:ext cx="137160" cy="37021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8252460" y="4141220"/>
            <a:ext cx="137160" cy="27803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8389620" y="4169023"/>
            <a:ext cx="137160" cy="47245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8526780" y="4216268"/>
            <a:ext cx="137160" cy="11815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 flipV="1">
            <a:off x="8663940" y="4300671"/>
            <a:ext cx="137160" cy="33747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 flipV="1">
            <a:off x="8801100" y="4070260"/>
            <a:ext cx="137160" cy="230411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 flipV="1">
            <a:off x="8938260" y="3858327"/>
            <a:ext cx="137160" cy="211933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 flipV="1">
            <a:off x="9075420" y="3631197"/>
            <a:ext cx="137160" cy="227131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 flipV="1">
            <a:off x="9212580" y="3553640"/>
            <a:ext cx="137160" cy="77556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9349740" y="3553640"/>
            <a:ext cx="137160" cy="122544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 flipV="1">
            <a:off x="9486900" y="3606965"/>
            <a:ext cx="137160" cy="69219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 flipV="1">
            <a:off x="9624060" y="3465414"/>
            <a:ext cx="137160" cy="141551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 flipV="1">
            <a:off x="9761220" y="3285429"/>
            <a:ext cx="137160" cy="179986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 flipV="1">
            <a:off x="9898380" y="3097452"/>
            <a:ext cx="137160" cy="187977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10035540" y="3097452"/>
            <a:ext cx="137160" cy="79204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 flipV="1">
            <a:off x="10172700" y="3109806"/>
            <a:ext cx="137160" cy="6685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 flipV="1">
            <a:off x="10309860" y="2874906"/>
            <a:ext cx="137160" cy="23490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 flipV="1">
            <a:off x="10447020" y="2743595"/>
            <a:ext cx="137160" cy="131311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 flipV="1">
            <a:off x="10584180" y="2664074"/>
            <a:ext cx="137160" cy="79521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10721340" y="2664074"/>
            <a:ext cx="137160" cy="17918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 flipV="1">
            <a:off x="10858500" y="2520763"/>
            <a:ext cx="137160" cy="161229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 flipV="1">
            <a:off x="10995660" y="2117189"/>
            <a:ext cx="137160" cy="403575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 flipV="1">
            <a:off x="11132820" y="1819174"/>
            <a:ext cx="137160" cy="298014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5852160" y="4526280"/>
            <a:ext cx="2468880" cy="914400"/>
          </a:xfrm>
          <a:prstGeom prst="roundRect">
            <a:avLst>
              <a:gd name="adj" fmla="val 8000"/>
            </a:avLst>
          </a:prstGeom>
          <a:solidFill>
            <a:srgbClr val="0D111B"/>
          </a:solidFill>
          <a:ln w="9525">
            <a:solidFill>
              <a:srgbClr val="253044"/>
            </a:solidFill>
            <a:prstDash val="solid"/>
          </a:ln>
        </p:spPr>
      </p:sp>
      <p:sp>
        <p:nvSpPr>
          <p:cNvPr id="121" name="Text 119"/>
          <p:cNvSpPr txBox="1"/>
          <p:nvPr/>
        </p:nvSpPr>
        <p:spPr>
          <a:xfrm>
            <a:off x="6035040" y="463600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Portfolio Value</a:t>
            </a:r>
            <a:endParaRPr lang="en-US" sz="1100" dirty="0"/>
          </a:p>
        </p:txBody>
      </p:sp>
      <p:sp>
        <p:nvSpPr>
          <p:cNvPr id="122" name="Text 120"/>
          <p:cNvSpPr txBox="1"/>
          <p:nvPr/>
        </p:nvSpPr>
        <p:spPr>
          <a:xfrm>
            <a:off x="6035040" y="487375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₹1,24,850</a:t>
            </a:r>
            <a:endParaRPr lang="en-US" sz="2200" dirty="0"/>
          </a:p>
        </p:txBody>
      </p:sp>
      <p:sp>
        <p:nvSpPr>
          <p:cNvPr id="123" name="Shape 121"/>
          <p:cNvSpPr/>
          <p:nvPr/>
        </p:nvSpPr>
        <p:spPr>
          <a:xfrm>
            <a:off x="9601200" y="4846320"/>
            <a:ext cx="2103120" cy="914400"/>
          </a:xfrm>
          <a:prstGeom prst="roundRect">
            <a:avLst>
              <a:gd name="adj" fmla="val 8000"/>
            </a:avLst>
          </a:prstGeom>
          <a:solidFill>
            <a:srgbClr val="0D111B"/>
          </a:solidFill>
          <a:ln w="9525">
            <a:solidFill>
              <a:srgbClr val="253044"/>
            </a:solidFill>
            <a:prstDash val="solid"/>
          </a:ln>
        </p:spPr>
      </p:sp>
      <p:sp>
        <p:nvSpPr>
          <p:cNvPr id="124" name="Text 122"/>
          <p:cNvSpPr txBox="1"/>
          <p:nvPr/>
        </p:nvSpPr>
        <p:spPr>
          <a:xfrm>
            <a:off x="9784080" y="49560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Total P&amp;L</a:t>
            </a:r>
            <a:endParaRPr lang="en-US" sz="1100" dirty="0"/>
          </a:p>
        </p:txBody>
      </p:sp>
      <p:sp>
        <p:nvSpPr>
          <p:cNvPr id="125" name="Text 123"/>
          <p:cNvSpPr txBox="1"/>
          <p:nvPr/>
        </p:nvSpPr>
        <p:spPr>
          <a:xfrm>
            <a:off x="9784080" y="519379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+₹8,420</a:t>
            </a:r>
            <a:endParaRPr lang="en-US" sz="2200" dirty="0"/>
          </a:p>
        </p:txBody>
      </p:sp>
      <p:sp>
        <p:nvSpPr>
          <p:cNvPr id="126" name="Text 124"/>
          <p:cNvSpPr txBox="1"/>
          <p:nvPr/>
        </p:nvSpPr>
        <p:spPr>
          <a:xfrm>
            <a:off x="64008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Interface values are illustrative demo figures. No real trades are executed.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From Market Complexity to Portfolio Clarity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6"/>
                </a:solidFill>
              </a:rPr>
              <a:t>THE PROBLEM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484632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9525">
            <a:solidFill>
              <a:srgbClr val="25304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36776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Fragmented Information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002536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Prices and portfolio details are spread across tools.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532888"/>
            <a:ext cx="484632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9525">
            <a:solidFill>
              <a:srgbClr val="25304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660904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Manual Calculations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026664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Returns, holdings and P&amp;L need repeated calculation.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557016"/>
            <a:ext cx="484632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9525">
            <a:solidFill>
              <a:srgbClr val="25304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368503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Limited Risk Visibility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405079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Volatility and concentration are hard to see.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581144"/>
            <a:ext cx="484632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9525">
            <a:solidFill>
              <a:srgbClr val="25304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47091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Risky Learning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50749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Beginners need to explore trades without real money.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852160" y="11887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THE SOLUTION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852160" y="1508760"/>
            <a:ext cx="3749040" cy="4023360"/>
          </a:xfrm>
          <a:prstGeom prst="roundRect">
            <a:avLst>
              <a:gd name="adj" fmla="val 1951"/>
            </a:avLst>
          </a:prstGeom>
          <a:solidFill>
            <a:schemeClr val="tx2"/>
          </a:solidFill>
          <a:ln w="9525">
            <a:solidFill>
              <a:srgbClr val="25304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89320" y="1645920"/>
            <a:ext cx="1097280" cy="685800"/>
          </a:xfrm>
          <a:prstGeom prst="roundRect">
            <a:avLst>
              <a:gd name="adj" fmla="val 10667"/>
            </a:avLst>
          </a:prstGeom>
          <a:solidFill>
            <a:srgbClr val="0D111B"/>
          </a:solidFill>
          <a:ln w="9525">
            <a:solidFill>
              <a:srgbClr val="25304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080760" y="170078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Value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080760" y="193852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₹1,24,850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178040" y="1645920"/>
            <a:ext cx="1097280" cy="685800"/>
          </a:xfrm>
          <a:prstGeom prst="roundRect">
            <a:avLst>
              <a:gd name="adj" fmla="val 10667"/>
            </a:avLst>
          </a:prstGeom>
          <a:solidFill>
            <a:srgbClr val="0D111B"/>
          </a:solidFill>
          <a:ln w="9525">
            <a:solidFill>
              <a:srgbClr val="25304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269480" y="170078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P&amp;L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7269480" y="193852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+₹8,420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366760" y="1645920"/>
            <a:ext cx="1097280" cy="685800"/>
          </a:xfrm>
          <a:prstGeom prst="roundRect">
            <a:avLst>
              <a:gd name="adj" fmla="val 10667"/>
            </a:avLst>
          </a:prstGeom>
          <a:solidFill>
            <a:srgbClr val="0D111B"/>
          </a:solidFill>
          <a:ln w="9525">
            <a:solidFill>
              <a:srgbClr val="25304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458200" y="170078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Cash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8458200" y="193852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₹35,000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989320" y="2560320"/>
            <a:ext cx="3474720" cy="0"/>
          </a:xfrm>
          <a:prstGeom prst="line">
            <a:avLst/>
          </a:prstGeom>
          <a:noFill/>
          <a:ln w="6350">
            <a:solidFill>
              <a:srgbClr val="25304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989320" y="3200400"/>
            <a:ext cx="3474720" cy="0"/>
          </a:xfrm>
          <a:prstGeom prst="line">
            <a:avLst/>
          </a:prstGeom>
          <a:noFill/>
          <a:ln w="6350">
            <a:solidFill>
              <a:srgbClr val="25304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89320" y="3840480"/>
            <a:ext cx="3474720" cy="0"/>
          </a:xfrm>
          <a:prstGeom prst="line">
            <a:avLst/>
          </a:prstGeom>
          <a:noFill/>
          <a:ln w="6350">
            <a:solidFill>
              <a:srgbClr val="25304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989320" y="4480560"/>
            <a:ext cx="3474720" cy="0"/>
          </a:xfrm>
          <a:prstGeom prst="line">
            <a:avLst/>
          </a:prstGeom>
          <a:noFill/>
          <a:ln w="6350">
            <a:solidFill>
              <a:srgbClr val="25304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89320" y="5120640"/>
            <a:ext cx="3474720" cy="0"/>
          </a:xfrm>
          <a:prstGeom prst="line">
            <a:avLst/>
          </a:prstGeom>
          <a:noFill/>
          <a:ln w="6350">
            <a:solidFill>
              <a:srgbClr val="25304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061710" y="3127349"/>
            <a:ext cx="0" cy="733175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21172" y="3369042"/>
            <a:ext cx="81077" cy="215341"/>
          </a:xfrm>
          <a:prstGeom prst="rect">
            <a:avLst/>
          </a:prstGeom>
          <a:solidFill>
            <a:schemeClr val="accent6"/>
          </a:solidFill>
          <a:ln w="3175">
            <a:solidFill>
              <a:schemeClr val="accent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06490" y="2587388"/>
            <a:ext cx="0" cy="1150895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165952" y="3090984"/>
            <a:ext cx="81077" cy="493398"/>
          </a:xfrm>
          <a:prstGeom prst="rect">
            <a:avLst/>
          </a:prstGeom>
          <a:solidFill>
            <a:schemeClr val="accent3"/>
          </a:solidFill>
          <a:ln w="3175">
            <a:solidFill>
              <a:schemeClr val="accent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51270" y="2878028"/>
            <a:ext cx="0" cy="1108836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310732" y="3090984"/>
            <a:ext cx="81077" cy="419342"/>
          </a:xfrm>
          <a:prstGeom prst="rect">
            <a:avLst/>
          </a:prstGeom>
          <a:solidFill>
            <a:schemeClr val="accent6"/>
          </a:solidFill>
          <a:ln w="3175">
            <a:solidFill>
              <a:schemeClr val="accent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496050" y="3232445"/>
            <a:ext cx="0" cy="668499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455512" y="3510326"/>
            <a:ext cx="81077" cy="37779"/>
          </a:xfrm>
          <a:prstGeom prst="rect">
            <a:avLst/>
          </a:prstGeom>
          <a:solidFill>
            <a:schemeClr val="accent6"/>
          </a:solidFill>
          <a:ln w="3175">
            <a:solidFill>
              <a:schemeClr val="accent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640830" y="3201725"/>
            <a:ext cx="0" cy="768150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600292" y="3536442"/>
            <a:ext cx="81077" cy="27432"/>
          </a:xfrm>
          <a:prstGeom prst="rect">
            <a:avLst/>
          </a:prstGeom>
          <a:solidFill>
            <a:schemeClr val="accent3"/>
          </a:solidFill>
          <a:ln w="3175">
            <a:solidFill>
              <a:schemeClr val="accent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785610" y="3085108"/>
            <a:ext cx="0" cy="1305826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745072" y="3536442"/>
            <a:ext cx="81077" cy="384765"/>
          </a:xfrm>
          <a:prstGeom prst="rect">
            <a:avLst/>
          </a:prstGeom>
          <a:solidFill>
            <a:schemeClr val="accent6"/>
          </a:solidFill>
          <a:ln w="3175">
            <a:solidFill>
              <a:schemeClr val="accent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930390" y="3748835"/>
            <a:ext cx="0" cy="672389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889852" y="3921208"/>
            <a:ext cx="81077" cy="120626"/>
          </a:xfrm>
          <a:prstGeom prst="rect">
            <a:avLst/>
          </a:prstGeom>
          <a:solidFill>
            <a:schemeClr val="accent6"/>
          </a:solidFill>
          <a:ln w="3175">
            <a:solidFill>
              <a:schemeClr val="accent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075170" y="3502694"/>
            <a:ext cx="0" cy="105895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034632" y="4041834"/>
            <a:ext cx="81077" cy="34531"/>
          </a:xfrm>
          <a:prstGeom prst="rect">
            <a:avLst/>
          </a:prstGeom>
          <a:solidFill>
            <a:schemeClr val="accent6"/>
          </a:solidFill>
          <a:ln w="3175">
            <a:solidFill>
              <a:schemeClr val="accent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219950" y="3070295"/>
            <a:ext cx="0" cy="1287264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179412" y="3206761"/>
            <a:ext cx="81077" cy="869605"/>
          </a:xfrm>
          <a:prstGeom prst="rect">
            <a:avLst/>
          </a:prstGeom>
          <a:solidFill>
            <a:schemeClr val="accent3"/>
          </a:solidFill>
          <a:ln w="3175">
            <a:solidFill>
              <a:schemeClr val="accent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364730" y="2993519"/>
            <a:ext cx="0" cy="124923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324192" y="3206761"/>
            <a:ext cx="81077" cy="526474"/>
          </a:xfrm>
          <a:prstGeom prst="rect">
            <a:avLst/>
          </a:prstGeom>
          <a:solidFill>
            <a:schemeClr val="accent6"/>
          </a:solidFill>
          <a:ln w="3175">
            <a:solidFill>
              <a:schemeClr val="accent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509510" y="3218319"/>
            <a:ext cx="0" cy="1126547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468972" y="3733234"/>
            <a:ext cx="81077" cy="152040"/>
          </a:xfrm>
          <a:prstGeom prst="rect">
            <a:avLst/>
          </a:prstGeom>
          <a:solidFill>
            <a:schemeClr val="accent6"/>
          </a:solidFill>
          <a:ln w="3175">
            <a:solidFill>
              <a:schemeClr val="accent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654290" y="3190719"/>
            <a:ext cx="0" cy="1021565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613752" y="3376535"/>
            <a:ext cx="81077" cy="508739"/>
          </a:xfrm>
          <a:prstGeom prst="rect">
            <a:avLst/>
          </a:prstGeom>
          <a:solidFill>
            <a:schemeClr val="accent3"/>
          </a:solidFill>
          <a:ln w="3175">
            <a:solidFill>
              <a:schemeClr val="accent3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799070" y="2794360"/>
            <a:ext cx="0" cy="813551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758532" y="3098689"/>
            <a:ext cx="81077" cy="277846"/>
          </a:xfrm>
          <a:prstGeom prst="rect">
            <a:avLst/>
          </a:prstGeom>
          <a:solidFill>
            <a:schemeClr val="accent3"/>
          </a:solidFill>
          <a:ln w="3175">
            <a:solidFill>
              <a:schemeClr val="accent3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943850" y="2856466"/>
            <a:ext cx="0" cy="705559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903312" y="2992954"/>
            <a:ext cx="81077" cy="105735"/>
          </a:xfrm>
          <a:prstGeom prst="rect">
            <a:avLst/>
          </a:prstGeom>
          <a:solidFill>
            <a:schemeClr val="accent3"/>
          </a:solidFill>
          <a:ln w="3175">
            <a:solidFill>
              <a:schemeClr val="accent3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088630" y="2560320"/>
            <a:ext cx="0" cy="125234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048092" y="2992954"/>
            <a:ext cx="81077" cy="520939"/>
          </a:xfrm>
          <a:prstGeom prst="rect">
            <a:avLst/>
          </a:prstGeom>
          <a:solidFill>
            <a:schemeClr val="accent6"/>
          </a:solidFill>
          <a:ln w="3175">
            <a:solidFill>
              <a:schemeClr val="accent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233410" y="2942245"/>
            <a:ext cx="0" cy="908756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192872" y="3513893"/>
            <a:ext cx="81077" cy="156664"/>
          </a:xfrm>
          <a:prstGeom prst="rect">
            <a:avLst/>
          </a:prstGeom>
          <a:solidFill>
            <a:schemeClr val="accent6"/>
          </a:solidFill>
          <a:ln w="3175">
            <a:solidFill>
              <a:schemeClr val="accent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378190" y="3318877"/>
            <a:ext cx="0" cy="110809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337652" y="3670557"/>
            <a:ext cx="81077" cy="513880"/>
          </a:xfrm>
          <a:prstGeom prst="rect">
            <a:avLst/>
          </a:prstGeom>
          <a:solidFill>
            <a:schemeClr val="accent6"/>
          </a:solidFill>
          <a:ln w="3175">
            <a:solidFill>
              <a:schemeClr val="accent6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522970" y="3315717"/>
            <a:ext cx="0" cy="1076506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482432" y="3665563"/>
            <a:ext cx="81077" cy="518874"/>
          </a:xfrm>
          <a:prstGeom prst="rect">
            <a:avLst/>
          </a:prstGeom>
          <a:solidFill>
            <a:schemeClr val="accent3"/>
          </a:solidFill>
          <a:ln w="3175">
            <a:solidFill>
              <a:schemeClr val="accent3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667750" y="3266733"/>
            <a:ext cx="0" cy="973358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627212" y="3665563"/>
            <a:ext cx="81077" cy="282935"/>
          </a:xfrm>
          <a:prstGeom prst="rect">
            <a:avLst/>
          </a:prstGeom>
          <a:solidFill>
            <a:schemeClr val="accent6"/>
          </a:solidFill>
          <a:ln w="3175">
            <a:solidFill>
              <a:schemeClr val="accent6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812530" y="3513093"/>
            <a:ext cx="0" cy="1473281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771992" y="3948498"/>
            <a:ext cx="81077" cy="472384"/>
          </a:xfrm>
          <a:prstGeom prst="rect">
            <a:avLst/>
          </a:prstGeom>
          <a:solidFill>
            <a:schemeClr val="accent6"/>
          </a:solidFill>
          <a:ln w="3175">
            <a:solidFill>
              <a:schemeClr val="accent6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8957310" y="4137029"/>
            <a:ext cx="0" cy="954951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916772" y="4420882"/>
            <a:ext cx="81077" cy="190254"/>
          </a:xfrm>
          <a:prstGeom prst="rect">
            <a:avLst/>
          </a:prstGeom>
          <a:solidFill>
            <a:schemeClr val="accent6"/>
          </a:solidFill>
          <a:ln w="3175">
            <a:solidFill>
              <a:schemeClr val="accent6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9102090" y="4048361"/>
            <a:ext cx="0" cy="1028573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9061552" y="4611136"/>
            <a:ext cx="81077" cy="97855"/>
          </a:xfrm>
          <a:prstGeom prst="rect">
            <a:avLst/>
          </a:prstGeom>
          <a:solidFill>
            <a:schemeClr val="accent6"/>
          </a:solidFill>
          <a:ln w="3175">
            <a:solidFill>
              <a:schemeClr val="accent6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9246870" y="3892950"/>
            <a:ext cx="0" cy="1227690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9206332" y="4023201"/>
            <a:ext cx="81077" cy="685791"/>
          </a:xfrm>
          <a:prstGeom prst="rect">
            <a:avLst/>
          </a:prstGeom>
          <a:solidFill>
            <a:schemeClr val="accent3"/>
          </a:solidFill>
          <a:ln w="3175">
            <a:solidFill>
              <a:schemeClr val="accent3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9391650" y="3730994"/>
            <a:ext cx="0" cy="1148662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9351112" y="4023201"/>
            <a:ext cx="81077" cy="330269"/>
          </a:xfrm>
          <a:prstGeom prst="rect">
            <a:avLst/>
          </a:prstGeom>
          <a:solidFill>
            <a:schemeClr val="accent6"/>
          </a:solidFill>
          <a:ln w="3175">
            <a:solidFill>
              <a:schemeClr val="accent6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 flipV="1">
            <a:off x="6061710" y="3337683"/>
            <a:ext cx="144780" cy="139029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 flipV="1">
            <a:off x="6206490" y="3300655"/>
            <a:ext cx="144780" cy="37028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351270" y="3300655"/>
            <a:ext cx="144780" cy="22856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6496050" y="3529215"/>
            <a:ext cx="144780" cy="13058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6640830" y="3542273"/>
            <a:ext cx="144780" cy="186552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6785610" y="3728825"/>
            <a:ext cx="144780" cy="252696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6930390" y="3981521"/>
            <a:ext cx="144780" cy="77579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 flipV="1">
            <a:off x="7075170" y="3641563"/>
            <a:ext cx="144780" cy="417537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 flipV="1">
            <a:off x="7219950" y="3469997"/>
            <a:ext cx="144780" cy="171566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7364730" y="3469997"/>
            <a:ext cx="144780" cy="339257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 flipV="1">
            <a:off x="7509510" y="3630905"/>
            <a:ext cx="144780" cy="178349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 flipV="1">
            <a:off x="7654290" y="3237612"/>
            <a:ext cx="144780" cy="393293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 flipV="1">
            <a:off x="7799070" y="3045822"/>
            <a:ext cx="144780" cy="191791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7943850" y="3045822"/>
            <a:ext cx="144780" cy="207602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8088630" y="3253424"/>
            <a:ext cx="144780" cy="338802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8233410" y="3592225"/>
            <a:ext cx="144780" cy="335272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 flipV="1">
            <a:off x="8378190" y="3925000"/>
            <a:ext cx="144780" cy="2497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 flipV="1">
            <a:off x="8522970" y="3807031"/>
            <a:ext cx="144780" cy="117969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8667750" y="3807031"/>
            <a:ext cx="144780" cy="377659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8812530" y="4184690"/>
            <a:ext cx="144780" cy="331319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8957310" y="4516009"/>
            <a:ext cx="144780" cy="144055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 flipV="1">
            <a:off x="9102090" y="4366097"/>
            <a:ext cx="144780" cy="293968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 flipV="1">
            <a:off x="9246870" y="4188336"/>
            <a:ext cx="144780" cy="177761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103" name="Text 101"/>
          <p:cNvSpPr txBox="1"/>
          <p:nvPr/>
        </p:nvSpPr>
        <p:spPr>
          <a:xfrm>
            <a:off x="5989320" y="52120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TradePilot dashboard · illustrative demo data</a:t>
            </a:r>
            <a:endParaRPr lang="en-US" sz="1000" dirty="0"/>
          </a:p>
        </p:txBody>
      </p:sp>
      <p:sp>
        <p:nvSpPr>
          <p:cNvPr id="104" name="Shape 102"/>
          <p:cNvSpPr/>
          <p:nvPr/>
        </p:nvSpPr>
        <p:spPr>
          <a:xfrm>
            <a:off x="9601200" y="1938528"/>
            <a:ext cx="411480" cy="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  <a:tailEnd type="oval"/>
          </a:ln>
        </p:spPr>
      </p:sp>
      <p:sp>
        <p:nvSpPr>
          <p:cNvPr id="105" name="Shape 103"/>
          <p:cNvSpPr/>
          <p:nvPr/>
        </p:nvSpPr>
        <p:spPr>
          <a:xfrm>
            <a:off x="10012680" y="1508760"/>
            <a:ext cx="178308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 w="9525">
            <a:solidFill>
              <a:srgbClr val="388BFD"/>
            </a:solidFill>
            <a:prstDash val="solid"/>
          </a:ln>
        </p:spPr>
      </p:sp>
      <p:sp>
        <p:nvSpPr>
          <p:cNvPr id="106" name="Text 104"/>
          <p:cNvSpPr txBox="1"/>
          <p:nvPr/>
        </p:nvSpPr>
        <p:spPr>
          <a:xfrm>
            <a:off x="10122408" y="1600200"/>
            <a:ext cx="1572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Unified Market Monitoring</a:t>
            </a:r>
            <a:endParaRPr lang="en-US" sz="1300" dirty="0"/>
          </a:p>
        </p:txBody>
      </p:sp>
      <p:sp>
        <p:nvSpPr>
          <p:cNvPr id="107" name="Shape 105"/>
          <p:cNvSpPr/>
          <p:nvPr/>
        </p:nvSpPr>
        <p:spPr>
          <a:xfrm>
            <a:off x="9601200" y="2990088"/>
            <a:ext cx="411480" cy="0"/>
          </a:xfrm>
          <a:prstGeom prst="line">
            <a:avLst/>
          </a:prstGeom>
          <a:noFill/>
          <a:ln w="15875">
            <a:solidFill>
              <a:schemeClr val="accent3"/>
            </a:solidFill>
            <a:prstDash val="solid"/>
            <a:tailEnd type="oval"/>
          </a:ln>
        </p:spPr>
      </p:sp>
      <p:sp>
        <p:nvSpPr>
          <p:cNvPr id="108" name="Shape 106"/>
          <p:cNvSpPr/>
          <p:nvPr/>
        </p:nvSpPr>
        <p:spPr>
          <a:xfrm>
            <a:off x="10012680" y="2560320"/>
            <a:ext cx="178308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 w="9525">
            <a:solidFill>
              <a:srgbClr val="22C58C"/>
            </a:solidFill>
            <a:prstDash val="solid"/>
          </a:ln>
        </p:spPr>
      </p:sp>
      <p:sp>
        <p:nvSpPr>
          <p:cNvPr id="109" name="Text 107"/>
          <p:cNvSpPr txBox="1"/>
          <p:nvPr/>
        </p:nvSpPr>
        <p:spPr>
          <a:xfrm>
            <a:off x="10122408" y="2651760"/>
            <a:ext cx="1572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Automated Portfolio Calculations</a:t>
            </a:r>
            <a:endParaRPr lang="en-US" sz="1300" dirty="0"/>
          </a:p>
        </p:txBody>
      </p:sp>
      <p:sp>
        <p:nvSpPr>
          <p:cNvPr id="110" name="Shape 108"/>
          <p:cNvSpPr/>
          <p:nvPr/>
        </p:nvSpPr>
        <p:spPr>
          <a:xfrm>
            <a:off x="9601200" y="4041648"/>
            <a:ext cx="411480" cy="0"/>
          </a:xfrm>
          <a:prstGeom prst="line">
            <a:avLst/>
          </a:prstGeom>
          <a:noFill/>
          <a:ln w="15875">
            <a:solidFill>
              <a:schemeClr val="accent2"/>
            </a:solidFill>
            <a:prstDash val="solid"/>
            <a:tailEnd type="oval"/>
          </a:ln>
        </p:spPr>
      </p:sp>
      <p:sp>
        <p:nvSpPr>
          <p:cNvPr id="111" name="Shape 109"/>
          <p:cNvSpPr/>
          <p:nvPr/>
        </p:nvSpPr>
        <p:spPr>
          <a:xfrm>
            <a:off x="10012680" y="3611880"/>
            <a:ext cx="178308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 w="9525">
            <a:solidFill>
              <a:srgbClr val="2DD4E6"/>
            </a:solidFill>
            <a:prstDash val="solid"/>
          </a:ln>
        </p:spPr>
      </p:sp>
      <p:sp>
        <p:nvSpPr>
          <p:cNvPr id="112" name="Text 110"/>
          <p:cNvSpPr txBox="1"/>
          <p:nvPr/>
        </p:nvSpPr>
        <p:spPr>
          <a:xfrm>
            <a:off x="10122408" y="3703320"/>
            <a:ext cx="1572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Interactive Financial Charts</a:t>
            </a:r>
            <a:endParaRPr lang="en-US" sz="1300" dirty="0"/>
          </a:p>
        </p:txBody>
      </p:sp>
      <p:sp>
        <p:nvSpPr>
          <p:cNvPr id="113" name="Shape 111"/>
          <p:cNvSpPr/>
          <p:nvPr/>
        </p:nvSpPr>
        <p:spPr>
          <a:xfrm>
            <a:off x="9601200" y="5093208"/>
            <a:ext cx="411480" cy="0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  <a:tailEnd type="oval"/>
          </a:ln>
        </p:spPr>
      </p:sp>
      <p:sp>
        <p:nvSpPr>
          <p:cNvPr id="114" name="Shape 112"/>
          <p:cNvSpPr/>
          <p:nvPr/>
        </p:nvSpPr>
        <p:spPr>
          <a:xfrm>
            <a:off x="10012680" y="4663440"/>
            <a:ext cx="178308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 w="9525">
            <a:solidFill>
              <a:srgbClr val="A78BFA"/>
            </a:solidFill>
            <a:prstDash val="solid"/>
          </a:ln>
        </p:spPr>
      </p:sp>
      <p:sp>
        <p:nvSpPr>
          <p:cNvPr id="115" name="Text 113"/>
          <p:cNvSpPr txBox="1"/>
          <p:nvPr/>
        </p:nvSpPr>
        <p:spPr>
          <a:xfrm>
            <a:off x="10122408" y="4754880"/>
            <a:ext cx="1572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Risk-Free Paper Trading</a:t>
            </a:r>
            <a:endParaRPr lang="en-US" sz="1300" dirty="0"/>
          </a:p>
        </p:txBody>
      </p:sp>
      <p:sp>
        <p:nvSpPr>
          <p:cNvPr id="116" name="Shape 114"/>
          <p:cNvSpPr/>
          <p:nvPr/>
        </p:nvSpPr>
        <p:spPr>
          <a:xfrm>
            <a:off x="548640" y="5760720"/>
            <a:ext cx="11091672" cy="640080"/>
          </a:xfrm>
          <a:prstGeom prst="roundRect">
            <a:avLst>
              <a:gd name="adj" fmla="val 11429"/>
            </a:avLst>
          </a:prstGeom>
          <a:solidFill>
            <a:srgbClr val="0D111B"/>
          </a:solidFill>
          <a:ln w="9525">
            <a:solidFill>
              <a:srgbClr val="253044"/>
            </a:solidFill>
            <a:prstDash val="solid"/>
          </a:ln>
        </p:spPr>
      </p:sp>
      <p:sp>
        <p:nvSpPr>
          <p:cNvPr id="117" name="Text 115"/>
          <p:cNvSpPr txBox="1"/>
          <p:nvPr/>
        </p:nvSpPr>
        <p:spPr>
          <a:xfrm>
            <a:off x="731520" y="576072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workspace for market monitoring, portfolio management, and investment simulation.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Six Capabilities. One Intelligent Workspace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566160" cy="2331720"/>
          </a:xfrm>
          <a:prstGeom prst="roundRect">
            <a:avLst>
              <a:gd name="adj" fmla="val 3137"/>
            </a:avLst>
          </a:prstGeom>
          <a:solidFill>
            <a:schemeClr val="tx2"/>
          </a:solidFill>
          <a:ln w="9525">
            <a:solidFill>
              <a:srgbClr val="25304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554480"/>
            <a:ext cx="640080" cy="640080"/>
          </a:xfrm>
          <a:prstGeom prst="ellipse">
            <a:avLst/>
          </a:prstGeom>
          <a:solidFill>
            <a:srgbClr val="0D111B"/>
          </a:solidFill>
          <a:ln w="12700">
            <a:solidFill>
              <a:srgbClr val="388BFD"/>
            </a:solidFill>
            <a:prstDash val="solid"/>
          </a:ln>
        </p:spPr>
      </p:sp>
      <p:pic>
        <p:nvPicPr>
          <p:cNvPr id="5" name="Image 0" descr="Market Watch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1719072"/>
            <a:ext cx="310896" cy="31089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3317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Watch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7432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Search supported instruments, monitor available prices, and manage watchlists.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297680" y="1280160"/>
            <a:ext cx="3566160" cy="2331720"/>
          </a:xfrm>
          <a:prstGeom prst="roundRect">
            <a:avLst>
              <a:gd name="adj" fmla="val 3137"/>
            </a:avLst>
          </a:prstGeom>
          <a:solidFill>
            <a:schemeClr val="tx2"/>
          </a:solidFill>
          <a:ln w="9525">
            <a:solidFill>
              <a:srgbClr val="25304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0" y="1554480"/>
            <a:ext cx="640080" cy="640080"/>
          </a:xfrm>
          <a:prstGeom prst="ellipse">
            <a:avLst/>
          </a:prstGeom>
          <a:solidFill>
            <a:srgbClr val="0D111B"/>
          </a:solidFill>
          <a:ln w="12700">
            <a:solidFill>
              <a:srgbClr val="2DD4E6"/>
            </a:solidFill>
            <a:prstDash val="solid"/>
          </a:ln>
        </p:spPr>
      </p:sp>
      <p:pic>
        <p:nvPicPr>
          <p:cNvPr id="10" name="Image 1" descr="Candlestick Charts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6592" y="1719072"/>
            <a:ext cx="310896" cy="31089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572000" y="23317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Candlestick Charts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4572000" y="27432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Visualize historical OHLC prices with interactive financial charts.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8046720" y="1280160"/>
            <a:ext cx="3566160" cy="2331720"/>
          </a:xfrm>
          <a:prstGeom prst="roundRect">
            <a:avLst>
              <a:gd name="adj" fmla="val 3137"/>
            </a:avLst>
          </a:prstGeom>
          <a:solidFill>
            <a:schemeClr val="tx2"/>
          </a:solidFill>
          <a:ln w="9525">
            <a:solidFill>
              <a:srgbClr val="253044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321040" y="1554480"/>
            <a:ext cx="640080" cy="640080"/>
          </a:xfrm>
          <a:prstGeom prst="ellipse">
            <a:avLst/>
          </a:prstGeom>
          <a:solidFill>
            <a:srgbClr val="0D111B"/>
          </a:solidFill>
          <a:ln w="12700">
            <a:solidFill>
              <a:srgbClr val="22C58C"/>
            </a:solidFill>
            <a:prstDash val="solid"/>
          </a:ln>
        </p:spPr>
      </p:sp>
      <p:pic>
        <p:nvPicPr>
          <p:cNvPr id="15" name="Image 2" descr="Paper Trading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632" y="1719072"/>
            <a:ext cx="310896" cy="31089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321040" y="23317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Trading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8321040" y="27432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Simulate purchases and sales using a virtual cash balance.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548640" y="3840480"/>
            <a:ext cx="3566160" cy="2331720"/>
          </a:xfrm>
          <a:prstGeom prst="roundRect">
            <a:avLst>
              <a:gd name="adj" fmla="val 3137"/>
            </a:avLst>
          </a:prstGeom>
          <a:solidFill>
            <a:schemeClr val="tx2"/>
          </a:solidFill>
          <a:ln w="9525">
            <a:solidFill>
              <a:srgbClr val="253044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822960" y="4114800"/>
            <a:ext cx="640080" cy="640080"/>
          </a:xfrm>
          <a:prstGeom prst="ellipse">
            <a:avLst/>
          </a:prstGeom>
          <a:solidFill>
            <a:srgbClr val="0D111B"/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20" name="Image 3" descr="Portfolio Analytics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4279392"/>
            <a:ext cx="310896" cy="31089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22960" y="48920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Analytics</a:t>
            </a:r>
            <a:endParaRPr lang="en-US" sz="2000" dirty="0"/>
          </a:p>
        </p:txBody>
      </p:sp>
      <p:sp>
        <p:nvSpPr>
          <p:cNvPr id="22" name="Text 16"/>
          <p:cNvSpPr txBox="1"/>
          <p:nvPr/>
        </p:nvSpPr>
        <p:spPr>
          <a:xfrm>
            <a:off x="822960" y="53035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Track holdings, allocation, returns, and portfolio value.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4297680" y="3840480"/>
            <a:ext cx="3566160" cy="2331720"/>
          </a:xfrm>
          <a:prstGeom prst="roundRect">
            <a:avLst>
              <a:gd name="adj" fmla="val 3137"/>
            </a:avLst>
          </a:prstGeom>
          <a:solidFill>
            <a:schemeClr val="tx2"/>
          </a:solidFill>
          <a:ln w="9525">
            <a:solidFill>
              <a:srgbClr val="253044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4572000" y="4114800"/>
            <a:ext cx="640080" cy="640080"/>
          </a:xfrm>
          <a:prstGeom prst="ellipse">
            <a:avLst/>
          </a:prstGeom>
          <a:solidFill>
            <a:srgbClr val="0D111B"/>
          </a:solidFill>
          <a:ln w="12700">
            <a:solidFill>
              <a:srgbClr val="FBBF24"/>
            </a:solidFill>
            <a:prstDash val="solid"/>
          </a:ln>
        </p:spPr>
      </p:sp>
      <p:pic>
        <p:nvPicPr>
          <p:cNvPr id="25" name="Image 4" descr="Risk Analysis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6592" y="4279392"/>
            <a:ext cx="310896" cy="310896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572000" y="48920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Analysis</a:t>
            </a:r>
            <a:endParaRPr lang="en-US" sz="2000" dirty="0"/>
          </a:p>
        </p:txBody>
      </p:sp>
      <p:sp>
        <p:nvSpPr>
          <p:cNvPr id="27" name="Text 20"/>
          <p:cNvSpPr txBox="1"/>
          <p:nvPr/>
        </p:nvSpPr>
        <p:spPr>
          <a:xfrm>
            <a:off x="4572000" y="53035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Analyze historical volatility, maximum drawdown, and concentration.</a:t>
            </a:r>
            <a:endParaRPr lang="en-US" sz="1400" dirty="0"/>
          </a:p>
        </p:txBody>
      </p:sp>
      <p:sp>
        <p:nvSpPr>
          <p:cNvPr id="28" name="Shape 21"/>
          <p:cNvSpPr/>
          <p:nvPr/>
        </p:nvSpPr>
        <p:spPr>
          <a:xfrm>
            <a:off x="8046720" y="3840480"/>
            <a:ext cx="3566160" cy="2331720"/>
          </a:xfrm>
          <a:prstGeom prst="roundRect">
            <a:avLst>
              <a:gd name="adj" fmla="val 3137"/>
            </a:avLst>
          </a:prstGeom>
          <a:solidFill>
            <a:schemeClr val="tx2"/>
          </a:solidFill>
          <a:ln w="9525">
            <a:solidFill>
              <a:srgbClr val="253044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8321040" y="4114800"/>
            <a:ext cx="640080" cy="640080"/>
          </a:xfrm>
          <a:prstGeom prst="ellipse">
            <a:avLst/>
          </a:prstGeom>
          <a:solidFill>
            <a:srgbClr val="0D111B"/>
          </a:solidFill>
          <a:ln w="12700">
            <a:solidFill>
              <a:srgbClr val="F87171"/>
            </a:solidFill>
            <a:prstDash val="solid"/>
          </a:ln>
        </p:spPr>
      </p:sp>
      <p:pic>
        <p:nvPicPr>
          <p:cNvPr id="30" name="Image 5" descr="Profit/Loss Simulator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5632" y="4279392"/>
            <a:ext cx="310896" cy="310896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8321040" y="48920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Profit/Loss Simulator</a:t>
            </a:r>
            <a:endParaRPr lang="en-US" sz="2000" dirty="0"/>
          </a:p>
        </p:txBody>
      </p:sp>
      <p:sp>
        <p:nvSpPr>
          <p:cNvPr id="32" name="Text 24"/>
          <p:cNvSpPr txBox="1"/>
          <p:nvPr/>
        </p:nvSpPr>
        <p:spPr>
          <a:xfrm>
            <a:off x="8321040" y="53035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Explore hypothetical prices, fees, returns, and break-even values.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Designed Like a Professional Trading Terminal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8412480" y="566928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Illustrative demo figures · not real market data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11457432" cy="5440680"/>
          </a:xfrm>
          <a:prstGeom prst="roundRect">
            <a:avLst>
              <a:gd name="adj" fmla="val 1345"/>
            </a:avLst>
          </a:prstGeom>
          <a:solidFill>
            <a:srgbClr val="080B12"/>
          </a:solidFill>
          <a:ln w="9525">
            <a:solidFill>
              <a:srgbClr val="2530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1014984"/>
            <a:ext cx="1828800" cy="5422392"/>
          </a:xfrm>
          <a:prstGeom prst="rect">
            <a:avLst/>
          </a:prstGeom>
          <a:solidFill>
            <a:srgbClr val="0D111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1430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TradePilot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1645920" cy="329184"/>
          </a:xfrm>
          <a:prstGeom prst="roundRect">
            <a:avLst>
              <a:gd name="adj" fmla="val 16667"/>
            </a:avLst>
          </a:prstGeom>
          <a:solidFill>
            <a:schemeClr val="accent1">
              <a:alpha val="25000"/>
            </a:schemeClr>
          </a:solidFill>
          <a:ln/>
        </p:spPr>
      </p:sp>
      <p:sp>
        <p:nvSpPr>
          <p:cNvPr id="8" name="Shape 6"/>
          <p:cNvSpPr/>
          <p:nvPr/>
        </p:nvSpPr>
        <p:spPr>
          <a:xfrm>
            <a:off x="594360" y="1682496"/>
            <a:ext cx="73152" cy="7315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155448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Overview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" y="2066544"/>
            <a:ext cx="73152" cy="73152"/>
          </a:xfrm>
          <a:prstGeom prst="rect">
            <a:avLst/>
          </a:prstGeom>
          <a:solidFill>
            <a:srgbClr val="25304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193852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Markets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4360" y="2450592"/>
            <a:ext cx="73152" cy="73152"/>
          </a:xfrm>
          <a:prstGeom prst="rect">
            <a:avLst/>
          </a:prstGeom>
          <a:solidFill>
            <a:srgbClr val="25304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2322576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My Portfolio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" y="2834640"/>
            <a:ext cx="73152" cy="73152"/>
          </a:xfrm>
          <a:prstGeom prst="rect">
            <a:avLst/>
          </a:prstGeom>
          <a:solidFill>
            <a:srgbClr val="25304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2706624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Paper Trading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4360" y="3218688"/>
            <a:ext cx="73152" cy="73152"/>
          </a:xfrm>
          <a:prstGeom prst="rect">
            <a:avLst/>
          </a:prstGeom>
          <a:solidFill>
            <a:srgbClr val="25304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7240" y="3090672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Transactions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4360" y="3602736"/>
            <a:ext cx="73152" cy="73152"/>
          </a:xfrm>
          <a:prstGeom prst="rect">
            <a:avLst/>
          </a:prstGeom>
          <a:solidFill>
            <a:srgbClr val="25304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77240" y="347472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Watchlist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94360" y="3986784"/>
            <a:ext cx="73152" cy="73152"/>
          </a:xfrm>
          <a:prstGeom prst="rect">
            <a:avLst/>
          </a:prstGeom>
          <a:solidFill>
            <a:srgbClr val="25304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385876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Analytics &amp; Risk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94360" y="4370832"/>
            <a:ext cx="73152" cy="73152"/>
          </a:xfrm>
          <a:prstGeom prst="rect">
            <a:avLst/>
          </a:prstGeom>
          <a:solidFill>
            <a:srgbClr val="25304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77240" y="4242816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P&amp;L Simulator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94360" y="4754880"/>
            <a:ext cx="73152" cy="73152"/>
          </a:xfrm>
          <a:prstGeom prst="rect">
            <a:avLst/>
          </a:prstGeom>
          <a:solidFill>
            <a:srgbClr val="253044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77240" y="4626864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Settings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603504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Paper Trading account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2423160" y="10972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4069080" y="1234440"/>
            <a:ext cx="91440" cy="9144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224528" y="10972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Demo data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229600" y="1115568"/>
            <a:ext cx="2468880" cy="329184"/>
          </a:xfrm>
          <a:prstGeom prst="roundRect">
            <a:avLst>
              <a:gd name="adj" fmla="val 22222"/>
            </a:avLst>
          </a:prstGeom>
          <a:solidFill>
            <a:srgbClr val="0D111B"/>
          </a:solidFill>
          <a:ln w="9525">
            <a:solidFill>
              <a:srgbClr val="25304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366760" y="1115568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Search stocks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1247120" y="1097280"/>
            <a:ext cx="365760" cy="36576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11247120" y="1097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AP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377440" y="1600200"/>
            <a:ext cx="1783080" cy="777240"/>
          </a:xfrm>
          <a:prstGeom prst="roundRect">
            <a:avLst>
              <a:gd name="adj" fmla="val 9412"/>
            </a:avLst>
          </a:prstGeom>
          <a:solidFill>
            <a:schemeClr val="tx2"/>
          </a:solidFill>
          <a:ln w="9525">
            <a:solidFill>
              <a:srgbClr val="253044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2514600" y="167335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Portfolio Value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2514600" y="192024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₹1,24,850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4251960" y="1600200"/>
            <a:ext cx="1783080" cy="777240"/>
          </a:xfrm>
          <a:prstGeom prst="roundRect">
            <a:avLst>
              <a:gd name="adj" fmla="val 9412"/>
            </a:avLst>
          </a:prstGeom>
          <a:solidFill>
            <a:schemeClr val="tx2"/>
          </a:solidFill>
          <a:ln w="9525">
            <a:solidFill>
              <a:srgbClr val="253044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389120" y="167335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Total Invested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4389120" y="192024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₹86,430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6126480" y="1600200"/>
            <a:ext cx="1783080" cy="777240"/>
          </a:xfrm>
          <a:prstGeom prst="roundRect">
            <a:avLst>
              <a:gd name="adj" fmla="val 9412"/>
            </a:avLst>
          </a:prstGeom>
          <a:solidFill>
            <a:schemeClr val="tx2"/>
          </a:solidFill>
          <a:ln w="9525">
            <a:solidFill>
              <a:srgbClr val="253044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263640" y="167335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Total P&amp;L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6263640" y="192024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+₹8,420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8001000" y="1600200"/>
            <a:ext cx="1783080" cy="777240"/>
          </a:xfrm>
          <a:prstGeom prst="roundRect">
            <a:avLst>
              <a:gd name="adj" fmla="val 9412"/>
            </a:avLst>
          </a:prstGeom>
          <a:solidFill>
            <a:schemeClr val="tx2"/>
          </a:solidFill>
          <a:ln w="9525">
            <a:solidFill>
              <a:srgbClr val="253044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8138160" y="167335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Available Cash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8138160" y="192024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₹35,000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9875520" y="1600200"/>
            <a:ext cx="1783080" cy="777240"/>
          </a:xfrm>
          <a:prstGeom prst="roundRect">
            <a:avLst>
              <a:gd name="adj" fmla="val 9412"/>
            </a:avLst>
          </a:prstGeom>
          <a:solidFill>
            <a:schemeClr val="tx2"/>
          </a:solidFill>
          <a:ln w="9525">
            <a:solidFill>
              <a:srgbClr val="253044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10012680" y="167335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Today's Change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10012680" y="192024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+₹640</a:t>
            </a: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2377440" y="2514600"/>
            <a:ext cx="6400800" cy="2331720"/>
          </a:xfrm>
          <a:prstGeom prst="roundRect">
            <a:avLst>
              <a:gd name="adj" fmla="val 3137"/>
            </a:avLst>
          </a:prstGeom>
          <a:solidFill>
            <a:schemeClr val="tx2"/>
          </a:solidFill>
          <a:ln w="9525">
            <a:solidFill>
              <a:srgbClr val="253044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2560320" y="25877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INFY · Demo candles</a:t>
            </a:r>
            <a:endParaRPr lang="en-US" sz="1100" dirty="0"/>
          </a:p>
        </p:txBody>
      </p:sp>
      <p:sp>
        <p:nvSpPr>
          <p:cNvPr id="51" name="Text 49"/>
          <p:cNvSpPr txBox="1"/>
          <p:nvPr/>
        </p:nvSpPr>
        <p:spPr>
          <a:xfrm>
            <a:off x="5806440" y="2578608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1m</a:t>
            </a:r>
            <a:endParaRPr lang="en-US" sz="1000" dirty="0"/>
          </a:p>
        </p:txBody>
      </p:sp>
      <p:sp>
        <p:nvSpPr>
          <p:cNvPr id="52" name="Text 50"/>
          <p:cNvSpPr txBox="1"/>
          <p:nvPr/>
        </p:nvSpPr>
        <p:spPr>
          <a:xfrm>
            <a:off x="6263640" y="2578608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5m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720840" y="2578608"/>
            <a:ext cx="384048" cy="219456"/>
          </a:xfrm>
          <a:prstGeom prst="roundRect">
            <a:avLst>
              <a:gd name="adj" fmla="val 20833"/>
            </a:avLst>
          </a:prstGeom>
          <a:solidFill>
            <a:schemeClr val="accent1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6720840" y="2578608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1D</a:t>
            </a:r>
            <a:endParaRPr lang="en-US" sz="1000" dirty="0"/>
          </a:p>
        </p:txBody>
      </p:sp>
      <p:sp>
        <p:nvSpPr>
          <p:cNvPr id="55" name="Text 53"/>
          <p:cNvSpPr txBox="1"/>
          <p:nvPr/>
        </p:nvSpPr>
        <p:spPr>
          <a:xfrm>
            <a:off x="7178040" y="2578608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1W</a:t>
            </a:r>
            <a:endParaRPr lang="en-US" sz="1000" dirty="0"/>
          </a:p>
        </p:txBody>
      </p:sp>
      <p:sp>
        <p:nvSpPr>
          <p:cNvPr id="56" name="Text 54"/>
          <p:cNvSpPr txBox="1"/>
          <p:nvPr/>
        </p:nvSpPr>
        <p:spPr>
          <a:xfrm>
            <a:off x="7635240" y="2578608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1M</a:t>
            </a:r>
            <a:endParaRPr lang="en-US" sz="1000" dirty="0"/>
          </a:p>
        </p:txBody>
      </p:sp>
      <p:sp>
        <p:nvSpPr>
          <p:cNvPr id="57" name="Text 55"/>
          <p:cNvSpPr txBox="1"/>
          <p:nvPr/>
        </p:nvSpPr>
        <p:spPr>
          <a:xfrm>
            <a:off x="8092440" y="2578608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1Y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2560320" y="2926080"/>
            <a:ext cx="5577840" cy="0"/>
          </a:xfrm>
          <a:prstGeom prst="line">
            <a:avLst/>
          </a:prstGeom>
          <a:noFill/>
          <a:ln w="6350">
            <a:solidFill>
              <a:srgbClr val="253044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560320" y="3234690"/>
            <a:ext cx="5577840" cy="0"/>
          </a:xfrm>
          <a:prstGeom prst="line">
            <a:avLst/>
          </a:prstGeom>
          <a:noFill/>
          <a:ln w="6350">
            <a:solidFill>
              <a:srgbClr val="253044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560320" y="3543300"/>
            <a:ext cx="5577840" cy="0"/>
          </a:xfrm>
          <a:prstGeom prst="line">
            <a:avLst/>
          </a:prstGeom>
          <a:noFill/>
          <a:ln w="6350">
            <a:solidFill>
              <a:srgbClr val="253044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560320" y="3851910"/>
            <a:ext cx="5577840" cy="0"/>
          </a:xfrm>
          <a:prstGeom prst="line">
            <a:avLst/>
          </a:prstGeom>
          <a:noFill/>
          <a:ln w="6350">
            <a:solidFill>
              <a:srgbClr val="253044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560320" y="4160520"/>
            <a:ext cx="5577840" cy="0"/>
          </a:xfrm>
          <a:prstGeom prst="line">
            <a:avLst/>
          </a:prstGeom>
          <a:noFill/>
          <a:ln w="6350">
            <a:solidFill>
              <a:srgbClr val="253044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630043" y="3938282"/>
            <a:ext cx="0" cy="195256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590998" y="4036536"/>
            <a:ext cx="78090" cy="47671"/>
          </a:xfrm>
          <a:prstGeom prst="rect">
            <a:avLst/>
          </a:prstGeom>
          <a:solidFill>
            <a:schemeClr val="accent6"/>
          </a:solidFill>
          <a:ln w="3175">
            <a:solidFill>
              <a:schemeClr val="accent6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769489" y="3915259"/>
            <a:ext cx="0" cy="243875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730444" y="3976323"/>
            <a:ext cx="78090" cy="107883"/>
          </a:xfrm>
          <a:prstGeom prst="rect">
            <a:avLst/>
          </a:prstGeom>
          <a:solidFill>
            <a:schemeClr val="accent3"/>
          </a:solidFill>
          <a:ln w="3175">
            <a:solidFill>
              <a:schemeClr val="accent3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908935" y="3864367"/>
            <a:ext cx="0" cy="251868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869890" y="3976323"/>
            <a:ext cx="78090" cy="108361"/>
          </a:xfrm>
          <a:prstGeom prst="rect">
            <a:avLst/>
          </a:prstGeom>
          <a:solidFill>
            <a:schemeClr val="accent6"/>
          </a:solidFill>
          <a:ln w="3175">
            <a:solidFill>
              <a:schemeClr val="accent6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3048381" y="3958311"/>
            <a:ext cx="0" cy="166231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3009336" y="4047773"/>
            <a:ext cx="78090" cy="36911"/>
          </a:xfrm>
          <a:prstGeom prst="rect">
            <a:avLst/>
          </a:prstGeom>
          <a:solidFill>
            <a:schemeClr val="accent3"/>
          </a:solidFill>
          <a:ln w="3175">
            <a:solidFill>
              <a:schemeClr val="accent3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3187827" y="3955073"/>
            <a:ext cx="0" cy="205447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3148782" y="4018871"/>
            <a:ext cx="78090" cy="28902"/>
          </a:xfrm>
          <a:prstGeom prst="rect">
            <a:avLst/>
          </a:prstGeom>
          <a:solidFill>
            <a:schemeClr val="accent3"/>
          </a:solidFill>
          <a:ln w="3175">
            <a:solidFill>
              <a:schemeClr val="accent3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3327273" y="3764572"/>
            <a:ext cx="0" cy="354493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3288228" y="3825186"/>
            <a:ext cx="78090" cy="193685"/>
          </a:xfrm>
          <a:prstGeom prst="rect">
            <a:avLst/>
          </a:prstGeom>
          <a:solidFill>
            <a:schemeClr val="accent3"/>
          </a:solidFill>
          <a:ln w="3175">
            <a:solidFill>
              <a:schemeClr val="accent3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466719" y="3682863"/>
            <a:ext cx="0" cy="265400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3427674" y="3755346"/>
            <a:ext cx="78090" cy="69840"/>
          </a:xfrm>
          <a:prstGeom prst="rect">
            <a:avLst/>
          </a:prstGeom>
          <a:solidFill>
            <a:schemeClr val="accent3"/>
          </a:solidFill>
          <a:ln w="3175">
            <a:solidFill>
              <a:schemeClr val="accent3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606165" y="3670023"/>
            <a:ext cx="0" cy="138459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3567120" y="3717061"/>
            <a:ext cx="78090" cy="38285"/>
          </a:xfrm>
          <a:prstGeom prst="rect">
            <a:avLst/>
          </a:prstGeom>
          <a:solidFill>
            <a:schemeClr val="accent3"/>
          </a:solidFill>
          <a:ln w="3175">
            <a:solidFill>
              <a:schemeClr val="accent3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3745611" y="3651149"/>
            <a:ext cx="0" cy="252903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3706566" y="3717061"/>
            <a:ext cx="78090" cy="64125"/>
          </a:xfrm>
          <a:prstGeom prst="rect">
            <a:avLst/>
          </a:prstGeom>
          <a:solidFill>
            <a:schemeClr val="accent6"/>
          </a:solidFill>
          <a:ln w="3175">
            <a:solidFill>
              <a:schemeClr val="accent6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3885057" y="3562813"/>
            <a:ext cx="0" cy="290290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3846012" y="3616072"/>
            <a:ext cx="78090" cy="165114"/>
          </a:xfrm>
          <a:prstGeom prst="rect">
            <a:avLst/>
          </a:prstGeom>
          <a:solidFill>
            <a:schemeClr val="accent3"/>
          </a:solidFill>
          <a:ln w="3175">
            <a:solidFill>
              <a:schemeClr val="accent3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4024503" y="3374094"/>
            <a:ext cx="0" cy="306338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3985458" y="3452481"/>
            <a:ext cx="78090" cy="163591"/>
          </a:xfrm>
          <a:prstGeom prst="rect">
            <a:avLst/>
          </a:prstGeom>
          <a:solidFill>
            <a:schemeClr val="accent3"/>
          </a:solidFill>
          <a:ln w="3175">
            <a:solidFill>
              <a:schemeClr val="accent3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4163949" y="3411464"/>
            <a:ext cx="0" cy="165977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4124904" y="3452481"/>
            <a:ext cx="78090" cy="91928"/>
          </a:xfrm>
          <a:prstGeom prst="rect">
            <a:avLst/>
          </a:prstGeom>
          <a:solidFill>
            <a:schemeClr val="accent6"/>
          </a:solidFill>
          <a:ln w="3175">
            <a:solidFill>
              <a:schemeClr val="accent6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4303395" y="3360841"/>
            <a:ext cx="0" cy="218576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4264350" y="3414685"/>
            <a:ext cx="78090" cy="129725"/>
          </a:xfrm>
          <a:prstGeom prst="rect">
            <a:avLst/>
          </a:prstGeom>
          <a:solidFill>
            <a:schemeClr val="accent3"/>
          </a:solidFill>
          <a:ln w="3175">
            <a:solidFill>
              <a:schemeClr val="accent3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4442841" y="3353917"/>
            <a:ext cx="0" cy="161397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4403796" y="3414685"/>
            <a:ext cx="78090" cy="75368"/>
          </a:xfrm>
          <a:prstGeom prst="rect">
            <a:avLst/>
          </a:prstGeom>
          <a:solidFill>
            <a:schemeClr val="accent6"/>
          </a:solidFill>
          <a:ln w="3175">
            <a:solidFill>
              <a:schemeClr val="accent6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4582287" y="3434537"/>
            <a:ext cx="0" cy="182853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4543242" y="3490052"/>
            <a:ext cx="78090" cy="45544"/>
          </a:xfrm>
          <a:prstGeom prst="rect">
            <a:avLst/>
          </a:prstGeom>
          <a:solidFill>
            <a:schemeClr val="accent6"/>
          </a:solidFill>
          <a:ln w="3175">
            <a:solidFill>
              <a:schemeClr val="accent6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4721733" y="3442055"/>
            <a:ext cx="0" cy="133116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4682688" y="3531362"/>
            <a:ext cx="78090" cy="27432"/>
          </a:xfrm>
          <a:prstGeom prst="rect">
            <a:avLst/>
          </a:prstGeom>
          <a:solidFill>
            <a:schemeClr val="accent3"/>
          </a:solidFill>
          <a:ln w="3175">
            <a:solidFill>
              <a:schemeClr val="accent3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4861179" y="3449691"/>
            <a:ext cx="0" cy="293442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4822134" y="3531362"/>
            <a:ext cx="78090" cy="94921"/>
          </a:xfrm>
          <a:prstGeom prst="rect">
            <a:avLst/>
          </a:prstGeom>
          <a:solidFill>
            <a:schemeClr val="accent6"/>
          </a:solidFill>
          <a:ln w="3175">
            <a:solidFill>
              <a:schemeClr val="accent6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5000625" y="3552547"/>
            <a:ext cx="0" cy="209509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4961580" y="3626283"/>
            <a:ext cx="78090" cy="95335"/>
          </a:xfrm>
          <a:prstGeom prst="rect">
            <a:avLst/>
          </a:prstGeom>
          <a:solidFill>
            <a:schemeClr val="accent6"/>
          </a:solidFill>
          <a:ln w="3175">
            <a:solidFill>
              <a:schemeClr val="accent6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5140071" y="3633922"/>
            <a:ext cx="0" cy="29087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5101026" y="3721618"/>
            <a:ext cx="78090" cy="98708"/>
          </a:xfrm>
          <a:prstGeom prst="rect">
            <a:avLst/>
          </a:prstGeom>
          <a:solidFill>
            <a:schemeClr val="accent6"/>
          </a:solidFill>
          <a:ln w="3175">
            <a:solidFill>
              <a:schemeClr val="accent6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5279517" y="3738601"/>
            <a:ext cx="0" cy="235272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5240472" y="3820326"/>
            <a:ext cx="78090" cy="35109"/>
          </a:xfrm>
          <a:prstGeom prst="rect">
            <a:avLst/>
          </a:prstGeom>
          <a:solidFill>
            <a:schemeClr val="accent6"/>
          </a:solidFill>
          <a:ln w="3175">
            <a:solidFill>
              <a:schemeClr val="accent6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5418963" y="3643419"/>
            <a:ext cx="0" cy="241252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5379918" y="3757888"/>
            <a:ext cx="78090" cy="97547"/>
          </a:xfrm>
          <a:prstGeom prst="rect">
            <a:avLst/>
          </a:prstGeom>
          <a:solidFill>
            <a:schemeClr val="accent3"/>
          </a:solidFill>
          <a:ln w="3175">
            <a:solidFill>
              <a:schemeClr val="accent3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5558409" y="3506292"/>
            <a:ext cx="0" cy="375485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5519364" y="3564140"/>
            <a:ext cx="78090" cy="193748"/>
          </a:xfrm>
          <a:prstGeom prst="rect">
            <a:avLst/>
          </a:prstGeom>
          <a:solidFill>
            <a:schemeClr val="accent3"/>
          </a:solidFill>
          <a:ln w="3175">
            <a:solidFill>
              <a:schemeClr val="accent3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5697855" y="3441284"/>
            <a:ext cx="0" cy="227143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5658810" y="3564140"/>
            <a:ext cx="78090" cy="58746"/>
          </a:xfrm>
          <a:prstGeom prst="rect">
            <a:avLst/>
          </a:prstGeom>
          <a:solidFill>
            <a:schemeClr val="accent6"/>
          </a:solidFill>
          <a:ln w="3175">
            <a:solidFill>
              <a:schemeClr val="accent6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5837301" y="3425955"/>
            <a:ext cx="0" cy="279008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5798256" y="3512351"/>
            <a:ext cx="78090" cy="110535"/>
          </a:xfrm>
          <a:prstGeom prst="rect">
            <a:avLst/>
          </a:prstGeom>
          <a:solidFill>
            <a:schemeClr val="accent3"/>
          </a:solidFill>
          <a:ln w="3175">
            <a:solidFill>
              <a:schemeClr val="accent3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5976747" y="3477797"/>
            <a:ext cx="0" cy="208787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5937702" y="3512351"/>
            <a:ext cx="78090" cy="66194"/>
          </a:xfrm>
          <a:prstGeom prst="rect">
            <a:avLst/>
          </a:prstGeom>
          <a:solidFill>
            <a:schemeClr val="accent6"/>
          </a:solidFill>
          <a:ln w="3175">
            <a:solidFill>
              <a:schemeClr val="accent6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6116193" y="3518372"/>
            <a:ext cx="0" cy="161824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6077148" y="3578545"/>
            <a:ext cx="78090" cy="27432"/>
          </a:xfrm>
          <a:prstGeom prst="rect">
            <a:avLst/>
          </a:prstGeom>
          <a:solidFill>
            <a:schemeClr val="accent6"/>
          </a:solidFill>
          <a:ln w="3175">
            <a:solidFill>
              <a:schemeClr val="accent6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6255639" y="3511389"/>
            <a:ext cx="0" cy="246403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6216594" y="3590708"/>
            <a:ext cx="78090" cy="83448"/>
          </a:xfrm>
          <a:prstGeom prst="rect">
            <a:avLst/>
          </a:prstGeom>
          <a:solidFill>
            <a:schemeClr val="accent6"/>
          </a:solidFill>
          <a:ln w="3175">
            <a:solidFill>
              <a:schemeClr val="accent6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6395085" y="3618294"/>
            <a:ext cx="0" cy="227234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6356040" y="3674156"/>
            <a:ext cx="78090" cy="80117"/>
          </a:xfrm>
          <a:prstGeom prst="rect">
            <a:avLst/>
          </a:prstGeom>
          <a:solidFill>
            <a:schemeClr val="accent6"/>
          </a:solidFill>
          <a:ln w="3175">
            <a:solidFill>
              <a:schemeClr val="accent6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6534531" y="3646755"/>
            <a:ext cx="0" cy="152302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6495486" y="3694691"/>
            <a:ext cx="78090" cy="59582"/>
          </a:xfrm>
          <a:prstGeom prst="rect">
            <a:avLst/>
          </a:prstGeom>
          <a:solidFill>
            <a:schemeClr val="accent3"/>
          </a:solidFill>
          <a:ln w="3175">
            <a:solidFill>
              <a:schemeClr val="accent3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6673977" y="3579319"/>
            <a:ext cx="0" cy="187403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6634932" y="3694691"/>
            <a:ext cx="78090" cy="32018"/>
          </a:xfrm>
          <a:prstGeom prst="rect">
            <a:avLst/>
          </a:prstGeom>
          <a:solidFill>
            <a:schemeClr val="accent6"/>
          </a:solidFill>
          <a:ln w="3175">
            <a:solidFill>
              <a:schemeClr val="accent6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6813423" y="3673341"/>
            <a:ext cx="0" cy="97158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6774378" y="3725489"/>
            <a:ext cx="78090" cy="27432"/>
          </a:xfrm>
          <a:prstGeom prst="rect">
            <a:avLst/>
          </a:prstGeom>
          <a:solidFill>
            <a:schemeClr val="accent3"/>
          </a:solidFill>
          <a:ln w="3175">
            <a:solidFill>
              <a:schemeClr val="accent3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6952869" y="3609657"/>
            <a:ext cx="0" cy="151839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6913824" y="3643087"/>
            <a:ext cx="78090" cy="82402"/>
          </a:xfrm>
          <a:prstGeom prst="rect">
            <a:avLst/>
          </a:prstGeom>
          <a:solidFill>
            <a:schemeClr val="accent3"/>
          </a:solidFill>
          <a:ln w="3175">
            <a:solidFill>
              <a:schemeClr val="accent3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7092315" y="3512773"/>
            <a:ext cx="0" cy="198771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7053270" y="3603049"/>
            <a:ext cx="78090" cy="40038"/>
          </a:xfrm>
          <a:prstGeom prst="rect">
            <a:avLst/>
          </a:prstGeom>
          <a:solidFill>
            <a:schemeClr val="accent3"/>
          </a:solidFill>
          <a:ln w="3175">
            <a:solidFill>
              <a:schemeClr val="accent3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7231761" y="3425318"/>
            <a:ext cx="0" cy="225979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7192716" y="3477176"/>
            <a:ext cx="78090" cy="125874"/>
          </a:xfrm>
          <a:prstGeom prst="rect">
            <a:avLst/>
          </a:prstGeom>
          <a:solidFill>
            <a:schemeClr val="accent3"/>
          </a:solidFill>
          <a:ln w="3175">
            <a:solidFill>
              <a:schemeClr val="accent3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7371207" y="3205447"/>
            <a:ext cx="0" cy="350748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7332162" y="3324762"/>
            <a:ext cx="78090" cy="152414"/>
          </a:xfrm>
          <a:prstGeom prst="rect">
            <a:avLst/>
          </a:prstGeom>
          <a:solidFill>
            <a:schemeClr val="accent3"/>
          </a:solidFill>
          <a:ln w="3175">
            <a:solidFill>
              <a:schemeClr val="accent3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7510653" y="3265380"/>
            <a:ext cx="0" cy="177839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7471608" y="3324762"/>
            <a:ext cx="78090" cy="27432"/>
          </a:xfrm>
          <a:prstGeom prst="rect">
            <a:avLst/>
          </a:prstGeom>
          <a:solidFill>
            <a:schemeClr val="accent6"/>
          </a:solidFill>
          <a:ln w="3175">
            <a:solidFill>
              <a:schemeClr val="accent6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7650099" y="3205666"/>
            <a:ext cx="0" cy="146717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7611054" y="3238914"/>
            <a:ext cx="78090" cy="87153"/>
          </a:xfrm>
          <a:prstGeom prst="rect">
            <a:avLst/>
          </a:prstGeom>
          <a:solidFill>
            <a:schemeClr val="accent3"/>
          </a:solidFill>
          <a:ln w="3175">
            <a:solidFill>
              <a:schemeClr val="accent3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7789545" y="2949984"/>
            <a:ext cx="0" cy="327105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7750500" y="3048312"/>
            <a:ext cx="78090" cy="190602"/>
          </a:xfrm>
          <a:prstGeom prst="rect">
            <a:avLst/>
          </a:prstGeom>
          <a:solidFill>
            <a:schemeClr val="accent3"/>
          </a:solidFill>
          <a:ln w="3175">
            <a:solidFill>
              <a:schemeClr val="accent3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7928991" y="3000514"/>
            <a:ext cx="0" cy="212216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7889946" y="3048312"/>
            <a:ext cx="78090" cy="113123"/>
          </a:xfrm>
          <a:prstGeom prst="rect">
            <a:avLst/>
          </a:prstGeom>
          <a:solidFill>
            <a:schemeClr val="accent6"/>
          </a:solidFill>
          <a:ln w="3175">
            <a:solidFill>
              <a:schemeClr val="accent6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8068437" y="2926080"/>
            <a:ext cx="0" cy="262524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8029392" y="3003252"/>
            <a:ext cx="78090" cy="158183"/>
          </a:xfrm>
          <a:prstGeom prst="rect">
            <a:avLst/>
          </a:prstGeom>
          <a:solidFill>
            <a:schemeClr val="accent3"/>
          </a:solidFill>
          <a:ln w="3175">
            <a:solidFill>
              <a:schemeClr val="accent3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 flipV="1">
            <a:off x="2630043" y="4030265"/>
            <a:ext cx="139446" cy="30106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2769489" y="4030265"/>
            <a:ext cx="139446" cy="239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2908935" y="4030504"/>
            <a:ext cx="139446" cy="35725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 flipV="1">
            <a:off x="3048381" y="4033322"/>
            <a:ext cx="139446" cy="32907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 flipV="1">
            <a:off x="3187827" y="3922028"/>
            <a:ext cx="139446" cy="111294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 flipV="1">
            <a:off x="3327273" y="3790266"/>
            <a:ext cx="139446" cy="131762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 flipV="1">
            <a:off x="3466719" y="3736203"/>
            <a:ext cx="139446" cy="54062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3606165" y="3736203"/>
            <a:ext cx="139446" cy="1292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 flipV="1">
            <a:off x="3745611" y="3698629"/>
            <a:ext cx="139446" cy="50494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 flipV="1">
            <a:off x="3885057" y="3534277"/>
            <a:ext cx="139446" cy="164352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 flipV="1">
            <a:off x="4024503" y="3498445"/>
            <a:ext cx="139446" cy="35831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 flipV="1">
            <a:off x="4163949" y="3479547"/>
            <a:ext cx="139446" cy="18898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 flipV="1">
            <a:off x="4303395" y="3452368"/>
            <a:ext cx="139446" cy="27179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4442841" y="3452368"/>
            <a:ext cx="139446" cy="60456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4582287" y="3512824"/>
            <a:ext cx="139446" cy="20655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4721733" y="3533479"/>
            <a:ext cx="139446" cy="45343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4861179" y="3578822"/>
            <a:ext cx="139446" cy="95128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5000625" y="3673951"/>
            <a:ext cx="139446" cy="97022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5140071" y="3770972"/>
            <a:ext cx="139446" cy="66908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 flipV="1">
            <a:off x="5279517" y="3806661"/>
            <a:ext cx="139446" cy="31219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 flipV="1">
            <a:off x="5418963" y="3661014"/>
            <a:ext cx="139446" cy="145648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 flipV="1">
            <a:off x="5558409" y="3593513"/>
            <a:ext cx="139446" cy="67501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 flipV="1">
            <a:off x="5697855" y="3567619"/>
            <a:ext cx="139446" cy="25894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 flipV="1">
            <a:off x="5837301" y="3545448"/>
            <a:ext cx="139446" cy="22171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5976747" y="3545448"/>
            <a:ext cx="139446" cy="39178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6116193" y="3584626"/>
            <a:ext cx="139446" cy="47806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6255639" y="3632432"/>
            <a:ext cx="139446" cy="81782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6395085" y="3714214"/>
            <a:ext cx="139446" cy="10267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 flipV="1">
            <a:off x="6534531" y="3710700"/>
            <a:ext cx="139446" cy="13782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6673977" y="3710700"/>
            <a:ext cx="139446" cy="15399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 flipV="1">
            <a:off x="6813423" y="3684288"/>
            <a:ext cx="139446" cy="41811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 flipV="1">
            <a:off x="6952869" y="3623068"/>
            <a:ext cx="139446" cy="6122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 flipV="1">
            <a:off x="7092315" y="3540113"/>
            <a:ext cx="139446" cy="82956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 flipV="1">
            <a:off x="7231761" y="3400969"/>
            <a:ext cx="139446" cy="139144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 flipV="1">
            <a:off x="7371207" y="3325414"/>
            <a:ext cx="139446" cy="75554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 flipV="1">
            <a:off x="7510653" y="3282490"/>
            <a:ext cx="139446" cy="42924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 flipV="1">
            <a:off x="7650099" y="3143613"/>
            <a:ext cx="139446" cy="138878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 flipV="1">
            <a:off x="7789545" y="3104873"/>
            <a:ext cx="139446" cy="3874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 flipV="1">
            <a:off x="7928991" y="3082344"/>
            <a:ext cx="139446" cy="2253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2588209" y="4317042"/>
            <a:ext cx="83668" cy="328110"/>
          </a:xfrm>
          <a:prstGeom prst="rect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183" name="Shape 181"/>
          <p:cNvSpPr/>
          <p:nvPr/>
        </p:nvSpPr>
        <p:spPr>
          <a:xfrm>
            <a:off x="2727655" y="4478892"/>
            <a:ext cx="83668" cy="166260"/>
          </a:xfrm>
          <a:prstGeom prst="rect">
            <a:avLst/>
          </a:prstGeom>
          <a:solidFill>
            <a:schemeClr val="accent3">
              <a:alpha val="60000"/>
            </a:schemeClr>
          </a:solidFill>
          <a:ln/>
        </p:spPr>
      </p:sp>
      <p:sp>
        <p:nvSpPr>
          <p:cNvPr id="184" name="Shape 182"/>
          <p:cNvSpPr/>
          <p:nvPr/>
        </p:nvSpPr>
        <p:spPr>
          <a:xfrm>
            <a:off x="2867101" y="4494042"/>
            <a:ext cx="83668" cy="151110"/>
          </a:xfrm>
          <a:prstGeom prst="rect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185" name="Shape 183"/>
          <p:cNvSpPr/>
          <p:nvPr/>
        </p:nvSpPr>
        <p:spPr>
          <a:xfrm>
            <a:off x="3006547" y="4319019"/>
            <a:ext cx="83668" cy="326133"/>
          </a:xfrm>
          <a:prstGeom prst="rect">
            <a:avLst/>
          </a:prstGeom>
          <a:solidFill>
            <a:schemeClr val="accent3">
              <a:alpha val="60000"/>
            </a:schemeClr>
          </a:solidFill>
          <a:ln/>
        </p:spPr>
      </p:sp>
      <p:sp>
        <p:nvSpPr>
          <p:cNvPr id="186" name="Shape 184"/>
          <p:cNvSpPr/>
          <p:nvPr/>
        </p:nvSpPr>
        <p:spPr>
          <a:xfrm>
            <a:off x="3145993" y="4515304"/>
            <a:ext cx="83668" cy="129848"/>
          </a:xfrm>
          <a:prstGeom prst="rect">
            <a:avLst/>
          </a:prstGeom>
          <a:solidFill>
            <a:schemeClr val="accent3">
              <a:alpha val="60000"/>
            </a:schemeClr>
          </a:solidFill>
          <a:ln/>
        </p:spPr>
      </p:sp>
      <p:sp>
        <p:nvSpPr>
          <p:cNvPr id="187" name="Shape 185"/>
          <p:cNvSpPr/>
          <p:nvPr/>
        </p:nvSpPr>
        <p:spPr>
          <a:xfrm>
            <a:off x="3285439" y="4380341"/>
            <a:ext cx="83668" cy="264811"/>
          </a:xfrm>
          <a:prstGeom prst="rect">
            <a:avLst/>
          </a:prstGeom>
          <a:solidFill>
            <a:schemeClr val="accent3">
              <a:alpha val="60000"/>
            </a:schemeClr>
          </a:solidFill>
          <a:ln/>
        </p:spPr>
      </p:sp>
      <p:sp>
        <p:nvSpPr>
          <p:cNvPr id="188" name="Shape 186"/>
          <p:cNvSpPr/>
          <p:nvPr/>
        </p:nvSpPr>
        <p:spPr>
          <a:xfrm>
            <a:off x="3424885" y="4420821"/>
            <a:ext cx="83668" cy="224331"/>
          </a:xfrm>
          <a:prstGeom prst="rect">
            <a:avLst/>
          </a:prstGeom>
          <a:solidFill>
            <a:schemeClr val="accent3">
              <a:alpha val="60000"/>
            </a:schemeClr>
          </a:solidFill>
          <a:ln/>
        </p:spPr>
      </p:sp>
      <p:sp>
        <p:nvSpPr>
          <p:cNvPr id="189" name="Shape 187"/>
          <p:cNvSpPr/>
          <p:nvPr/>
        </p:nvSpPr>
        <p:spPr>
          <a:xfrm>
            <a:off x="3564331" y="4331171"/>
            <a:ext cx="83668" cy="313981"/>
          </a:xfrm>
          <a:prstGeom prst="rect">
            <a:avLst/>
          </a:prstGeom>
          <a:solidFill>
            <a:schemeClr val="accent3">
              <a:alpha val="60000"/>
            </a:schemeClr>
          </a:solidFill>
          <a:ln/>
        </p:spPr>
      </p:sp>
      <p:sp>
        <p:nvSpPr>
          <p:cNvPr id="190" name="Shape 188"/>
          <p:cNvSpPr/>
          <p:nvPr/>
        </p:nvSpPr>
        <p:spPr>
          <a:xfrm>
            <a:off x="3703777" y="4474221"/>
            <a:ext cx="83668" cy="170931"/>
          </a:xfrm>
          <a:prstGeom prst="rect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191" name="Shape 189"/>
          <p:cNvSpPr/>
          <p:nvPr/>
        </p:nvSpPr>
        <p:spPr>
          <a:xfrm>
            <a:off x="3843223" y="4459260"/>
            <a:ext cx="83668" cy="185892"/>
          </a:xfrm>
          <a:prstGeom prst="rect">
            <a:avLst/>
          </a:prstGeom>
          <a:solidFill>
            <a:schemeClr val="accent3">
              <a:alpha val="60000"/>
            </a:schemeClr>
          </a:solidFill>
          <a:ln/>
        </p:spPr>
      </p:sp>
      <p:sp>
        <p:nvSpPr>
          <p:cNvPr id="192" name="Shape 190"/>
          <p:cNvSpPr/>
          <p:nvPr/>
        </p:nvSpPr>
        <p:spPr>
          <a:xfrm>
            <a:off x="3982669" y="4382176"/>
            <a:ext cx="83668" cy="262976"/>
          </a:xfrm>
          <a:prstGeom prst="rect">
            <a:avLst/>
          </a:prstGeom>
          <a:solidFill>
            <a:schemeClr val="accent3">
              <a:alpha val="60000"/>
            </a:schemeClr>
          </a:solidFill>
          <a:ln/>
        </p:spPr>
      </p:sp>
      <p:sp>
        <p:nvSpPr>
          <p:cNvPr id="193" name="Shape 191"/>
          <p:cNvSpPr/>
          <p:nvPr/>
        </p:nvSpPr>
        <p:spPr>
          <a:xfrm>
            <a:off x="4122115" y="4499149"/>
            <a:ext cx="83668" cy="146003"/>
          </a:xfrm>
          <a:prstGeom prst="rect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194" name="Shape 192"/>
          <p:cNvSpPr/>
          <p:nvPr/>
        </p:nvSpPr>
        <p:spPr>
          <a:xfrm>
            <a:off x="4261561" y="4418035"/>
            <a:ext cx="83668" cy="227117"/>
          </a:xfrm>
          <a:prstGeom prst="rect">
            <a:avLst/>
          </a:prstGeom>
          <a:solidFill>
            <a:schemeClr val="accent3">
              <a:alpha val="60000"/>
            </a:schemeClr>
          </a:solidFill>
          <a:ln/>
        </p:spPr>
      </p:sp>
      <p:sp>
        <p:nvSpPr>
          <p:cNvPr id="195" name="Shape 193"/>
          <p:cNvSpPr/>
          <p:nvPr/>
        </p:nvSpPr>
        <p:spPr>
          <a:xfrm>
            <a:off x="4401007" y="4363759"/>
            <a:ext cx="83668" cy="281393"/>
          </a:xfrm>
          <a:prstGeom prst="rect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196" name="Shape 194"/>
          <p:cNvSpPr/>
          <p:nvPr/>
        </p:nvSpPr>
        <p:spPr>
          <a:xfrm>
            <a:off x="4540453" y="4353195"/>
            <a:ext cx="83668" cy="291957"/>
          </a:xfrm>
          <a:prstGeom prst="rect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197" name="Shape 195"/>
          <p:cNvSpPr/>
          <p:nvPr/>
        </p:nvSpPr>
        <p:spPr>
          <a:xfrm>
            <a:off x="4679899" y="4475936"/>
            <a:ext cx="83668" cy="169216"/>
          </a:xfrm>
          <a:prstGeom prst="rect">
            <a:avLst/>
          </a:prstGeom>
          <a:solidFill>
            <a:schemeClr val="accent3">
              <a:alpha val="60000"/>
            </a:schemeClr>
          </a:solidFill>
          <a:ln/>
        </p:spPr>
      </p:sp>
      <p:sp>
        <p:nvSpPr>
          <p:cNvPr id="198" name="Shape 196"/>
          <p:cNvSpPr/>
          <p:nvPr/>
        </p:nvSpPr>
        <p:spPr>
          <a:xfrm>
            <a:off x="4819345" y="4292704"/>
            <a:ext cx="83668" cy="352448"/>
          </a:xfrm>
          <a:prstGeom prst="rect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199" name="Shape 197"/>
          <p:cNvSpPr/>
          <p:nvPr/>
        </p:nvSpPr>
        <p:spPr>
          <a:xfrm>
            <a:off x="4958791" y="4419780"/>
            <a:ext cx="83668" cy="225372"/>
          </a:xfrm>
          <a:prstGeom prst="rect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200" name="Shape 198"/>
          <p:cNvSpPr/>
          <p:nvPr/>
        </p:nvSpPr>
        <p:spPr>
          <a:xfrm>
            <a:off x="5098237" y="4342719"/>
            <a:ext cx="83668" cy="302433"/>
          </a:xfrm>
          <a:prstGeom prst="rect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201" name="Shape 199"/>
          <p:cNvSpPr/>
          <p:nvPr/>
        </p:nvSpPr>
        <p:spPr>
          <a:xfrm>
            <a:off x="5237683" y="4520343"/>
            <a:ext cx="83668" cy="124809"/>
          </a:xfrm>
          <a:prstGeom prst="rect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202" name="Shape 200"/>
          <p:cNvSpPr/>
          <p:nvPr/>
        </p:nvSpPr>
        <p:spPr>
          <a:xfrm>
            <a:off x="5377129" y="4389979"/>
            <a:ext cx="83668" cy="255173"/>
          </a:xfrm>
          <a:prstGeom prst="rect">
            <a:avLst/>
          </a:prstGeom>
          <a:solidFill>
            <a:schemeClr val="accent3">
              <a:alpha val="60000"/>
            </a:schemeClr>
          </a:solidFill>
          <a:ln/>
        </p:spPr>
      </p:sp>
      <p:sp>
        <p:nvSpPr>
          <p:cNvPr id="203" name="Shape 201"/>
          <p:cNvSpPr/>
          <p:nvPr/>
        </p:nvSpPr>
        <p:spPr>
          <a:xfrm>
            <a:off x="5516575" y="4462955"/>
            <a:ext cx="83668" cy="182197"/>
          </a:xfrm>
          <a:prstGeom prst="rect">
            <a:avLst/>
          </a:prstGeom>
          <a:solidFill>
            <a:schemeClr val="accent3">
              <a:alpha val="60000"/>
            </a:schemeClr>
          </a:solidFill>
          <a:ln/>
        </p:spPr>
      </p:sp>
      <p:sp>
        <p:nvSpPr>
          <p:cNvPr id="204" name="Shape 202"/>
          <p:cNvSpPr/>
          <p:nvPr/>
        </p:nvSpPr>
        <p:spPr>
          <a:xfrm>
            <a:off x="5656021" y="4505356"/>
            <a:ext cx="83668" cy="139796"/>
          </a:xfrm>
          <a:prstGeom prst="rect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205" name="Shape 203"/>
          <p:cNvSpPr/>
          <p:nvPr/>
        </p:nvSpPr>
        <p:spPr>
          <a:xfrm>
            <a:off x="5795467" y="4328858"/>
            <a:ext cx="83668" cy="316294"/>
          </a:xfrm>
          <a:prstGeom prst="rect">
            <a:avLst/>
          </a:prstGeom>
          <a:solidFill>
            <a:schemeClr val="accent3">
              <a:alpha val="60000"/>
            </a:schemeClr>
          </a:solidFill>
          <a:ln/>
        </p:spPr>
      </p:sp>
      <p:sp>
        <p:nvSpPr>
          <p:cNvPr id="206" name="Shape 204"/>
          <p:cNvSpPr/>
          <p:nvPr/>
        </p:nvSpPr>
        <p:spPr>
          <a:xfrm>
            <a:off x="5934913" y="4435291"/>
            <a:ext cx="83668" cy="209861"/>
          </a:xfrm>
          <a:prstGeom prst="rect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207" name="Shape 205"/>
          <p:cNvSpPr/>
          <p:nvPr/>
        </p:nvSpPr>
        <p:spPr>
          <a:xfrm>
            <a:off x="6074359" y="4462683"/>
            <a:ext cx="83668" cy="182469"/>
          </a:xfrm>
          <a:prstGeom prst="rect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208" name="Shape 206"/>
          <p:cNvSpPr/>
          <p:nvPr/>
        </p:nvSpPr>
        <p:spPr>
          <a:xfrm>
            <a:off x="6213805" y="4485403"/>
            <a:ext cx="83668" cy="159749"/>
          </a:xfrm>
          <a:prstGeom prst="rect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209" name="Shape 207"/>
          <p:cNvSpPr/>
          <p:nvPr/>
        </p:nvSpPr>
        <p:spPr>
          <a:xfrm>
            <a:off x="6353251" y="4427825"/>
            <a:ext cx="83668" cy="217327"/>
          </a:xfrm>
          <a:prstGeom prst="rect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210" name="Shape 208"/>
          <p:cNvSpPr/>
          <p:nvPr/>
        </p:nvSpPr>
        <p:spPr>
          <a:xfrm>
            <a:off x="6492697" y="4467860"/>
            <a:ext cx="83668" cy="177292"/>
          </a:xfrm>
          <a:prstGeom prst="rect">
            <a:avLst/>
          </a:prstGeom>
          <a:solidFill>
            <a:schemeClr val="accent3">
              <a:alpha val="60000"/>
            </a:schemeClr>
          </a:solidFill>
          <a:ln/>
        </p:spPr>
      </p:sp>
      <p:sp>
        <p:nvSpPr>
          <p:cNvPr id="211" name="Shape 209"/>
          <p:cNvSpPr/>
          <p:nvPr/>
        </p:nvSpPr>
        <p:spPr>
          <a:xfrm>
            <a:off x="6632143" y="4378111"/>
            <a:ext cx="83668" cy="267041"/>
          </a:xfrm>
          <a:prstGeom prst="rect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212" name="Shape 210"/>
          <p:cNvSpPr/>
          <p:nvPr/>
        </p:nvSpPr>
        <p:spPr>
          <a:xfrm>
            <a:off x="6771589" y="4296951"/>
            <a:ext cx="83668" cy="348201"/>
          </a:xfrm>
          <a:prstGeom prst="rect">
            <a:avLst/>
          </a:prstGeom>
          <a:solidFill>
            <a:schemeClr val="accent3">
              <a:alpha val="60000"/>
            </a:schemeClr>
          </a:solidFill>
          <a:ln/>
        </p:spPr>
      </p:sp>
      <p:sp>
        <p:nvSpPr>
          <p:cNvPr id="213" name="Shape 211"/>
          <p:cNvSpPr/>
          <p:nvPr/>
        </p:nvSpPr>
        <p:spPr>
          <a:xfrm>
            <a:off x="6911035" y="4493230"/>
            <a:ext cx="83668" cy="151922"/>
          </a:xfrm>
          <a:prstGeom prst="rect">
            <a:avLst/>
          </a:prstGeom>
          <a:solidFill>
            <a:schemeClr val="accent3">
              <a:alpha val="60000"/>
            </a:schemeClr>
          </a:solidFill>
          <a:ln/>
        </p:spPr>
      </p:sp>
      <p:sp>
        <p:nvSpPr>
          <p:cNvPr id="214" name="Shape 212"/>
          <p:cNvSpPr/>
          <p:nvPr/>
        </p:nvSpPr>
        <p:spPr>
          <a:xfrm>
            <a:off x="7050481" y="4440644"/>
            <a:ext cx="83668" cy="204508"/>
          </a:xfrm>
          <a:prstGeom prst="rect">
            <a:avLst/>
          </a:prstGeom>
          <a:solidFill>
            <a:schemeClr val="accent3">
              <a:alpha val="60000"/>
            </a:schemeClr>
          </a:solidFill>
          <a:ln/>
        </p:spPr>
      </p:sp>
      <p:sp>
        <p:nvSpPr>
          <p:cNvPr id="215" name="Shape 213"/>
          <p:cNvSpPr/>
          <p:nvPr/>
        </p:nvSpPr>
        <p:spPr>
          <a:xfrm>
            <a:off x="7189927" y="4526180"/>
            <a:ext cx="83668" cy="118972"/>
          </a:xfrm>
          <a:prstGeom prst="rect">
            <a:avLst/>
          </a:prstGeom>
          <a:solidFill>
            <a:schemeClr val="accent3">
              <a:alpha val="60000"/>
            </a:schemeClr>
          </a:solidFill>
          <a:ln/>
        </p:spPr>
      </p:sp>
      <p:sp>
        <p:nvSpPr>
          <p:cNvPr id="216" name="Shape 214"/>
          <p:cNvSpPr/>
          <p:nvPr/>
        </p:nvSpPr>
        <p:spPr>
          <a:xfrm>
            <a:off x="7329373" y="4435901"/>
            <a:ext cx="83668" cy="209251"/>
          </a:xfrm>
          <a:prstGeom prst="rect">
            <a:avLst/>
          </a:prstGeom>
          <a:solidFill>
            <a:schemeClr val="accent3">
              <a:alpha val="60000"/>
            </a:schemeClr>
          </a:solidFill>
          <a:ln/>
        </p:spPr>
      </p:sp>
      <p:sp>
        <p:nvSpPr>
          <p:cNvPr id="217" name="Shape 215"/>
          <p:cNvSpPr/>
          <p:nvPr/>
        </p:nvSpPr>
        <p:spPr>
          <a:xfrm>
            <a:off x="7468819" y="4486847"/>
            <a:ext cx="83668" cy="158305"/>
          </a:xfrm>
          <a:prstGeom prst="rect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218" name="Shape 216"/>
          <p:cNvSpPr/>
          <p:nvPr/>
        </p:nvSpPr>
        <p:spPr>
          <a:xfrm>
            <a:off x="7608265" y="4332356"/>
            <a:ext cx="83668" cy="312796"/>
          </a:xfrm>
          <a:prstGeom prst="rect">
            <a:avLst/>
          </a:prstGeom>
          <a:solidFill>
            <a:schemeClr val="accent3">
              <a:alpha val="60000"/>
            </a:schemeClr>
          </a:solidFill>
          <a:ln/>
        </p:spPr>
      </p:sp>
      <p:sp>
        <p:nvSpPr>
          <p:cNvPr id="219" name="Shape 217"/>
          <p:cNvSpPr/>
          <p:nvPr/>
        </p:nvSpPr>
        <p:spPr>
          <a:xfrm>
            <a:off x="7747711" y="4413482"/>
            <a:ext cx="83668" cy="231670"/>
          </a:xfrm>
          <a:prstGeom prst="rect">
            <a:avLst/>
          </a:prstGeom>
          <a:solidFill>
            <a:schemeClr val="accent3">
              <a:alpha val="60000"/>
            </a:schemeClr>
          </a:solidFill>
          <a:ln/>
        </p:spPr>
      </p:sp>
      <p:sp>
        <p:nvSpPr>
          <p:cNvPr id="220" name="Shape 218"/>
          <p:cNvSpPr/>
          <p:nvPr/>
        </p:nvSpPr>
        <p:spPr>
          <a:xfrm>
            <a:off x="7887157" y="4455788"/>
            <a:ext cx="83668" cy="189364"/>
          </a:xfrm>
          <a:prstGeom prst="rect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221" name="Shape 219"/>
          <p:cNvSpPr/>
          <p:nvPr/>
        </p:nvSpPr>
        <p:spPr>
          <a:xfrm>
            <a:off x="8026603" y="4512215"/>
            <a:ext cx="83668" cy="132937"/>
          </a:xfrm>
          <a:prstGeom prst="rect">
            <a:avLst/>
          </a:prstGeom>
          <a:solidFill>
            <a:schemeClr val="accent3">
              <a:alpha val="60000"/>
            </a:schemeClr>
          </a:solidFill>
          <a:ln/>
        </p:spPr>
      </p:sp>
      <p:sp>
        <p:nvSpPr>
          <p:cNvPr id="222" name="Text 220"/>
          <p:cNvSpPr txBox="1"/>
          <p:nvPr/>
        </p:nvSpPr>
        <p:spPr>
          <a:xfrm>
            <a:off x="8183880" y="283464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bg2"/>
                </a:solidFill>
              </a:rPr>
              <a:t>1,640</a:t>
            </a:r>
            <a:endParaRPr lang="en-US" sz="900" dirty="0"/>
          </a:p>
        </p:txBody>
      </p:sp>
      <p:sp>
        <p:nvSpPr>
          <p:cNvPr id="223" name="Text 221"/>
          <p:cNvSpPr txBox="1"/>
          <p:nvPr/>
        </p:nvSpPr>
        <p:spPr>
          <a:xfrm>
            <a:off x="8183880" y="312039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bg2"/>
                </a:solidFill>
              </a:rPr>
              <a:t>1,600</a:t>
            </a:r>
            <a:endParaRPr lang="en-US" sz="900" dirty="0"/>
          </a:p>
        </p:txBody>
      </p:sp>
      <p:sp>
        <p:nvSpPr>
          <p:cNvPr id="224" name="Text 222"/>
          <p:cNvSpPr txBox="1"/>
          <p:nvPr/>
        </p:nvSpPr>
        <p:spPr>
          <a:xfrm>
            <a:off x="8183880" y="340614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bg2"/>
                </a:solidFill>
              </a:rPr>
              <a:t>1,560</a:t>
            </a:r>
            <a:endParaRPr lang="en-US" sz="900" dirty="0"/>
          </a:p>
        </p:txBody>
      </p:sp>
      <p:sp>
        <p:nvSpPr>
          <p:cNvPr id="225" name="Text 223"/>
          <p:cNvSpPr txBox="1"/>
          <p:nvPr/>
        </p:nvSpPr>
        <p:spPr>
          <a:xfrm>
            <a:off x="8183880" y="369189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bg2"/>
                </a:solidFill>
              </a:rPr>
              <a:t>1,520</a:t>
            </a:r>
            <a:endParaRPr lang="en-US" sz="900" dirty="0"/>
          </a:p>
        </p:txBody>
      </p:sp>
      <p:sp>
        <p:nvSpPr>
          <p:cNvPr id="226" name="Text 224"/>
          <p:cNvSpPr txBox="1"/>
          <p:nvPr/>
        </p:nvSpPr>
        <p:spPr>
          <a:xfrm>
            <a:off x="8183880" y="397764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bg2"/>
                </a:solidFill>
              </a:rPr>
              <a:t>1,480</a:t>
            </a:r>
            <a:endParaRPr lang="en-US" sz="900" dirty="0"/>
          </a:p>
        </p:txBody>
      </p:sp>
      <p:sp>
        <p:nvSpPr>
          <p:cNvPr id="227" name="Text 225"/>
          <p:cNvSpPr txBox="1"/>
          <p:nvPr/>
        </p:nvSpPr>
        <p:spPr>
          <a:xfrm>
            <a:off x="2560320" y="463600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bg2"/>
                </a:solidFill>
              </a:rPr>
              <a:t>09:15</a:t>
            </a:r>
            <a:endParaRPr lang="en-US" sz="900" dirty="0"/>
          </a:p>
        </p:txBody>
      </p:sp>
      <p:sp>
        <p:nvSpPr>
          <p:cNvPr id="228" name="Text 226"/>
          <p:cNvSpPr txBox="1"/>
          <p:nvPr/>
        </p:nvSpPr>
        <p:spPr>
          <a:xfrm>
            <a:off x="3611880" y="463600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bg2"/>
                </a:solidFill>
              </a:rPr>
              <a:t>10:30</a:t>
            </a:r>
            <a:endParaRPr lang="en-US" sz="900" dirty="0"/>
          </a:p>
        </p:txBody>
      </p:sp>
      <p:sp>
        <p:nvSpPr>
          <p:cNvPr id="229" name="Text 227"/>
          <p:cNvSpPr txBox="1"/>
          <p:nvPr/>
        </p:nvSpPr>
        <p:spPr>
          <a:xfrm>
            <a:off x="4663440" y="463600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bg2"/>
                </a:solidFill>
              </a:rPr>
              <a:t>11:45</a:t>
            </a:r>
            <a:endParaRPr lang="en-US" sz="900" dirty="0"/>
          </a:p>
        </p:txBody>
      </p:sp>
      <p:sp>
        <p:nvSpPr>
          <p:cNvPr id="230" name="Text 228"/>
          <p:cNvSpPr txBox="1"/>
          <p:nvPr/>
        </p:nvSpPr>
        <p:spPr>
          <a:xfrm>
            <a:off x="5715000" y="463600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bg2"/>
                </a:solidFill>
              </a:rPr>
              <a:t>13:00</a:t>
            </a:r>
            <a:endParaRPr lang="en-US" sz="900" dirty="0"/>
          </a:p>
        </p:txBody>
      </p:sp>
      <p:sp>
        <p:nvSpPr>
          <p:cNvPr id="231" name="Text 229"/>
          <p:cNvSpPr txBox="1"/>
          <p:nvPr/>
        </p:nvSpPr>
        <p:spPr>
          <a:xfrm>
            <a:off x="6766560" y="463600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bg2"/>
                </a:solidFill>
              </a:rPr>
              <a:t>14:15</a:t>
            </a:r>
            <a:endParaRPr lang="en-US" sz="900" dirty="0"/>
          </a:p>
        </p:txBody>
      </p:sp>
      <p:sp>
        <p:nvSpPr>
          <p:cNvPr id="232" name="Text 230"/>
          <p:cNvSpPr txBox="1"/>
          <p:nvPr/>
        </p:nvSpPr>
        <p:spPr>
          <a:xfrm>
            <a:off x="7818120" y="463600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bg2"/>
                </a:solidFill>
              </a:rPr>
              <a:t>15:30</a:t>
            </a:r>
            <a:endParaRPr lang="en-US" sz="900" dirty="0"/>
          </a:p>
        </p:txBody>
      </p:sp>
      <p:sp>
        <p:nvSpPr>
          <p:cNvPr id="233" name="Shape 231"/>
          <p:cNvSpPr/>
          <p:nvPr/>
        </p:nvSpPr>
        <p:spPr>
          <a:xfrm>
            <a:off x="8915400" y="2514600"/>
            <a:ext cx="2743200" cy="2331720"/>
          </a:xfrm>
          <a:prstGeom prst="roundRect">
            <a:avLst>
              <a:gd name="adj" fmla="val 3137"/>
            </a:avLst>
          </a:prstGeom>
          <a:solidFill>
            <a:schemeClr val="tx2"/>
          </a:solidFill>
          <a:ln w="9525">
            <a:solidFill>
              <a:srgbClr val="253044"/>
            </a:solidFill>
            <a:prstDash val="solid"/>
          </a:ln>
        </p:spPr>
      </p:sp>
      <p:sp>
        <p:nvSpPr>
          <p:cNvPr id="234" name="Text 232"/>
          <p:cNvSpPr txBox="1"/>
          <p:nvPr/>
        </p:nvSpPr>
        <p:spPr>
          <a:xfrm>
            <a:off x="9098280" y="25877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Allocation (example)</a:t>
            </a:r>
            <a:endParaRPr lang="en-US" sz="1100" dirty="0"/>
          </a:p>
        </p:txBody>
      </p:sp>
      <p:graphicFrame>
        <p:nvGraphicFramePr>
          <p:cNvPr id="235" name="Chart 0" descr=""/>
          <p:cNvGraphicFramePr/>
          <p:nvPr/>
        </p:nvGraphicFramePr>
        <p:xfrm>
          <a:off x="9006840" y="2788920"/>
          <a:ext cx="256032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36" name="Shape 233"/>
          <p:cNvSpPr/>
          <p:nvPr/>
        </p:nvSpPr>
        <p:spPr>
          <a:xfrm>
            <a:off x="2377440" y="4983480"/>
            <a:ext cx="9281160" cy="1371600"/>
          </a:xfrm>
          <a:prstGeom prst="roundRect">
            <a:avLst>
              <a:gd name="adj" fmla="val 5333"/>
            </a:avLst>
          </a:prstGeom>
          <a:solidFill>
            <a:schemeClr val="tx2"/>
          </a:solidFill>
          <a:ln w="9525">
            <a:solidFill>
              <a:srgbClr val="253044"/>
            </a:solidFill>
            <a:prstDash val="solid"/>
          </a:ln>
        </p:spPr>
      </p:sp>
      <p:sp>
        <p:nvSpPr>
          <p:cNvPr id="237" name="Text 234"/>
          <p:cNvSpPr txBox="1"/>
          <p:nvPr/>
        </p:nvSpPr>
        <p:spPr>
          <a:xfrm>
            <a:off x="2560320" y="50292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Recent Transactions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0" y="5285232"/>
          <a:ext cx="89154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371600"/>
                <a:gridCol w="1371600"/>
                <a:gridCol w="1828800"/>
                <a:gridCol w="205740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9AA6BA"/>
                          </a:solidFill>
                        </a:rPr>
                        <a:t>Stock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5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9AA6BA"/>
                          </a:solidFill>
                        </a:rPr>
                        <a:t>Type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5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9AA6BA"/>
                          </a:solidFill>
                        </a:rPr>
                        <a:t>Quantity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5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9AA6BA"/>
                          </a:solidFill>
                        </a:rPr>
                        <a:t>Price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5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9AA6BA"/>
                          </a:solidFill>
                        </a:rPr>
                        <a:t>Status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5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2F6FC"/>
                          </a:solidFill>
                        </a:rPr>
                        <a:t>INFY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5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C58C"/>
                          </a:solidFill>
                        </a:rPr>
                        <a:t>Buy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5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2F6FC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5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2F6FC"/>
                          </a:solidFill>
                        </a:rPr>
                        <a:t>₹1,520.00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5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D4E6"/>
                          </a:solidFill>
                        </a:rPr>
                        <a:t>Simulated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5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2F6FC"/>
                          </a:solidFill>
                        </a:rPr>
                        <a:t>TCS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5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7171"/>
                          </a:solidFill>
                        </a:rPr>
                        <a:t>Sell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5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2F6FC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5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2F6FC"/>
                          </a:solidFill>
                        </a:rPr>
                        <a:t>₹3,980.00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5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D4E6"/>
                          </a:solidFill>
                        </a:rPr>
                        <a:t>Simulated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5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2F6FC"/>
                          </a:solidFill>
                        </a:rPr>
                        <a:t>HDFCBANK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5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C58C"/>
                          </a:solidFill>
                        </a:rPr>
                        <a:t>Buy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5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2F6FC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5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2F6FC"/>
                          </a:solidFill>
                        </a:rPr>
                        <a:t>₹1,640.00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5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D4E6"/>
                          </a:solidFill>
                        </a:rPr>
                        <a:t>Simulated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5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A Modular Architecture for Reliable Financial Data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920240" cy="2468880"/>
          </a:xfrm>
          <a:prstGeom prst="roundRect">
            <a:avLst>
              <a:gd name="adj" fmla="val 3810"/>
            </a:avLst>
          </a:prstGeom>
          <a:solidFill>
            <a:schemeClr val="tx2"/>
          </a:solidFill>
          <a:ln w="9525">
            <a:solidFill>
              <a:srgbClr val="388BF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53619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React + Vite + TS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86000"/>
            <a:ext cx="1554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bg2"/>
                </a:solidFill>
              </a:rPr>
              <a:t>User interface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bg2"/>
                </a:solidFill>
              </a:rPr>
              <a:t>Interactive charts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bg2"/>
                </a:solidFill>
              </a:rPr>
              <a:t>Forms and tables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bg2"/>
                </a:solidFill>
              </a:rPr>
              <a:t>Navigation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0" y="1371600"/>
            <a:ext cx="1920240" cy="2468880"/>
          </a:xfrm>
          <a:prstGeom prst="roundRect">
            <a:avLst>
              <a:gd name="adj" fmla="val 3810"/>
            </a:avLst>
          </a:prstGeom>
          <a:solidFill>
            <a:schemeClr val="tx2"/>
          </a:solidFill>
          <a:ln w="9525">
            <a:solidFill>
              <a:srgbClr val="2DD4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83280" y="153619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3383280" y="18745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Python + FastAPI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2286000"/>
            <a:ext cx="1554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bg2"/>
                </a:solidFill>
              </a:rPr>
              <a:t>API endpoints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bg2"/>
                </a:solidFill>
              </a:rPr>
              <a:t>Authentication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bg2"/>
                </a:solidFill>
              </a:rPr>
              <a:t>Input validation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bg2"/>
                </a:solidFill>
              </a:rPr>
              <a:t>Request processing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43600" y="1371600"/>
            <a:ext cx="3017520" cy="3383280"/>
          </a:xfrm>
          <a:prstGeom prst="roundRect">
            <a:avLst>
              <a:gd name="adj" fmla="val 2424"/>
            </a:avLst>
          </a:prstGeom>
          <a:solidFill>
            <a:schemeClr val="tx2"/>
          </a:solidFill>
          <a:ln w="9525">
            <a:solidFill>
              <a:srgbClr val="22C58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26480" y="14813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Services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080760" y="1920240"/>
            <a:ext cx="2743200" cy="640080"/>
          </a:xfrm>
          <a:prstGeom prst="roundRect">
            <a:avLst>
              <a:gd name="adj" fmla="val 11429"/>
            </a:avLst>
          </a:prstGeom>
          <a:solidFill>
            <a:srgbClr val="0D111B"/>
          </a:solidFill>
          <a:ln w="9525">
            <a:solidFill>
              <a:srgbClr val="22C58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0" y="19933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Portfolio Service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225856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Holdings and returns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80760" y="2633472"/>
            <a:ext cx="2743200" cy="640080"/>
          </a:xfrm>
          <a:prstGeom prst="roundRect">
            <a:avLst>
              <a:gd name="adj" fmla="val 11429"/>
            </a:avLst>
          </a:prstGeom>
          <a:solidFill>
            <a:srgbClr val="0D111B"/>
          </a:solidFill>
          <a:ln w="9525">
            <a:solidFill>
              <a:srgbClr val="22C58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17920" y="270662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Paper Trading Engine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0" y="297180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Validate trades, update cash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80760" y="3346704"/>
            <a:ext cx="2743200" cy="640080"/>
          </a:xfrm>
          <a:prstGeom prst="roundRect">
            <a:avLst>
              <a:gd name="adj" fmla="val 11429"/>
            </a:avLst>
          </a:prstGeom>
          <a:solidFill>
            <a:srgbClr val="0D111B"/>
          </a:solidFill>
          <a:ln w="9525">
            <a:solidFill>
              <a:srgbClr val="22C58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17920" y="341985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Profit/Loss Calculator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217920" y="368503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Realized and unrealized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080760" y="4059936"/>
            <a:ext cx="2743200" cy="640080"/>
          </a:xfrm>
          <a:prstGeom prst="roundRect">
            <a:avLst>
              <a:gd name="adj" fmla="val 11429"/>
            </a:avLst>
          </a:prstGeom>
          <a:solidFill>
            <a:srgbClr val="0D111B"/>
          </a:solidFill>
          <a:ln w="9525">
            <a:solidFill>
              <a:srgbClr val="22C58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217920" y="413308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Risk Analytics Engine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217920" y="439826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Supported historical metrics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784080" y="1371600"/>
            <a:ext cx="2011680" cy="3383280"/>
          </a:xfrm>
          <a:prstGeom prst="roundRect">
            <a:avLst>
              <a:gd name="adj" fmla="val 3636"/>
            </a:avLst>
          </a:prstGeom>
          <a:solidFill>
            <a:schemeClr val="tx2"/>
          </a:solidFill>
          <a:ln w="9525">
            <a:solidFill>
              <a:srgbClr val="A78BF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966960" y="153619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900" dirty="0"/>
          </a:p>
        </p:txBody>
      </p:sp>
      <p:sp>
        <p:nvSpPr>
          <p:cNvPr id="27" name="Text 25"/>
          <p:cNvSpPr txBox="1"/>
          <p:nvPr/>
        </p:nvSpPr>
        <p:spPr>
          <a:xfrm>
            <a:off x="9966960" y="1874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Database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9966960" y="2286000"/>
            <a:ext cx="1645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bg2"/>
                </a:solidFill>
              </a:rPr>
              <a:t>Users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bg2"/>
                </a:solidFill>
              </a:rPr>
              <a:t>Instruments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bg2"/>
                </a:solidFill>
              </a:rPr>
              <a:t>Holdings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bg2"/>
                </a:solidFill>
              </a:rPr>
              <a:t>Transactions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bg2"/>
                </a:solidFill>
              </a:rPr>
              <a:t>Watchlists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bg2"/>
                </a:solidFill>
              </a:rPr>
              <a:t>Portfolio snapshots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2377440" y="2606040"/>
            <a:ext cx="82296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0" name="Text 28"/>
          <p:cNvSpPr txBox="1"/>
          <p:nvPr/>
        </p:nvSpPr>
        <p:spPr>
          <a:xfrm>
            <a:off x="2377440" y="269748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REST API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Requests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120640" y="2606040"/>
            <a:ext cx="822960" cy="0"/>
          </a:xfrm>
          <a:prstGeom prst="line">
            <a:avLst/>
          </a:prstGeom>
          <a:noFill/>
          <a:ln w="2222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32" name="Text 30"/>
          <p:cNvSpPr txBox="1"/>
          <p:nvPr/>
        </p:nvSpPr>
        <p:spPr>
          <a:xfrm>
            <a:off x="5120640" y="26974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2"/>
                </a:solidFill>
              </a:rPr>
              <a:t>Coordinates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961120" y="3063240"/>
            <a:ext cx="822960" cy="0"/>
          </a:xfrm>
          <a:prstGeom prst="line">
            <a:avLst/>
          </a:prstGeom>
          <a:noFill/>
          <a:ln w="22225">
            <a:solidFill>
              <a:schemeClr val="accent4"/>
            </a:solidFill>
            <a:prstDash val="solid"/>
            <a:headEnd type="triangle"/>
            <a:tailEnd type="triangle"/>
          </a:ln>
        </p:spPr>
      </p:sp>
      <p:sp>
        <p:nvSpPr>
          <p:cNvPr id="34" name="Text 32"/>
          <p:cNvSpPr txBox="1"/>
          <p:nvPr/>
        </p:nvSpPr>
        <p:spPr>
          <a:xfrm>
            <a:off x="8961120" y="315468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Read /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Update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834640" y="5440680"/>
            <a:ext cx="265176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 w="9525">
            <a:solidFill>
              <a:srgbClr val="FBBF24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2926080" y="550468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Alpha Vantage / Twelve Data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2926080" y="59893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Configured real provider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943600" y="5440680"/>
            <a:ext cx="274320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 w="9525">
            <a:solidFill>
              <a:srgbClr val="9AA6BA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035040" y="550468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Demo Market Data Provider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6035040" y="59893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Simulated · no API key needed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 flipV="1">
            <a:off x="4160520" y="3840480"/>
            <a:ext cx="0" cy="160020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7315200" y="5029200"/>
            <a:ext cx="0" cy="411480"/>
          </a:xfrm>
          <a:prstGeom prst="line">
            <a:avLst/>
          </a:prstGeom>
          <a:noFill/>
          <a:ln w="22225">
            <a:solidFill>
              <a:srgbClr val="9AA6BA"/>
            </a:solidFill>
            <a:prstDash val="dash"/>
          </a:ln>
        </p:spPr>
      </p:sp>
      <p:sp>
        <p:nvSpPr>
          <p:cNvPr id="43" name="Shape 41"/>
          <p:cNvSpPr/>
          <p:nvPr/>
        </p:nvSpPr>
        <p:spPr>
          <a:xfrm>
            <a:off x="4663440" y="5029200"/>
            <a:ext cx="2651760" cy="0"/>
          </a:xfrm>
          <a:prstGeom prst="line">
            <a:avLst/>
          </a:prstGeom>
          <a:noFill/>
          <a:ln w="22225">
            <a:solidFill>
              <a:srgbClr val="9AA6BA"/>
            </a:solidFill>
            <a:prstDash val="dash"/>
          </a:ln>
        </p:spPr>
      </p:sp>
      <p:sp>
        <p:nvSpPr>
          <p:cNvPr id="44" name="Shape 42"/>
          <p:cNvSpPr/>
          <p:nvPr/>
        </p:nvSpPr>
        <p:spPr>
          <a:xfrm flipV="1">
            <a:off x="4663440" y="3840480"/>
            <a:ext cx="0" cy="1188720"/>
          </a:xfrm>
          <a:prstGeom prst="line">
            <a:avLst/>
          </a:prstGeom>
          <a:noFill/>
          <a:ln w="22225">
            <a:solidFill>
              <a:srgbClr val="9AA6BA"/>
            </a:solidFill>
            <a:prstDash val="dash"/>
            <a:tailEnd type="triangle"/>
          </a:ln>
        </p:spPr>
      </p:sp>
      <p:sp>
        <p:nvSpPr>
          <p:cNvPr id="45" name="Text 43"/>
          <p:cNvSpPr txBox="1"/>
          <p:nvPr/>
        </p:nvSpPr>
        <p:spPr>
          <a:xfrm>
            <a:off x="9052560" y="544068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The backend uses the configured provider. Without an API key, the demo provider supplies data that is always labeled as simulated.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From Market Data to Portfolio Insights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1965960" cy="2468880"/>
          </a:xfrm>
          <a:prstGeom prst="roundRect">
            <a:avLst>
              <a:gd name="adj" fmla="val 3721"/>
            </a:avLst>
          </a:prstGeom>
          <a:solidFill>
            <a:schemeClr val="tx2"/>
          </a:solidFill>
          <a:ln w="9525">
            <a:solidFill>
              <a:srgbClr val="25304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508760"/>
            <a:ext cx="457200" cy="457200"/>
          </a:xfrm>
          <a:prstGeom prst="ellipse">
            <a:avLst/>
          </a:prstGeom>
          <a:solidFill>
            <a:srgbClr val="0D111B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4884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 Market Data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74320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Retrieve supported quotes and historical OHLC data.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532888" y="2514600"/>
            <a:ext cx="283464" cy="0"/>
          </a:xfrm>
          <a:prstGeom prst="line">
            <a:avLst/>
          </a:prstGeom>
          <a:noFill/>
          <a:ln w="19050">
            <a:solidFill>
              <a:schemeClr val="bg2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834640" y="1280160"/>
            <a:ext cx="1965960" cy="2468880"/>
          </a:xfrm>
          <a:prstGeom prst="roundRect">
            <a:avLst>
              <a:gd name="adj" fmla="val 3721"/>
            </a:avLst>
          </a:prstGeom>
          <a:solidFill>
            <a:schemeClr val="tx2"/>
          </a:solidFill>
          <a:ln w="9525">
            <a:solidFill>
              <a:srgbClr val="2530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63240" y="1508760"/>
            <a:ext cx="457200" cy="457200"/>
          </a:xfrm>
          <a:prstGeom prst="ellipse">
            <a:avLst/>
          </a:prstGeom>
          <a:solidFill>
            <a:srgbClr val="0D111B"/>
          </a:solidFill>
          <a:ln w="19050">
            <a:solidFill>
              <a:srgbClr val="388BF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06324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063240" y="214884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the Market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063240" y="274320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Search instruments, examine charts, keep watchlists.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818888" y="2514600"/>
            <a:ext cx="283464" cy="0"/>
          </a:xfrm>
          <a:prstGeom prst="line">
            <a:avLst/>
          </a:prstGeom>
          <a:noFill/>
          <a:ln w="19050">
            <a:solidFill>
              <a:schemeClr val="bg2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120640" y="1280160"/>
            <a:ext cx="1965960" cy="2468880"/>
          </a:xfrm>
          <a:prstGeom prst="roundRect">
            <a:avLst>
              <a:gd name="adj" fmla="val 3721"/>
            </a:avLst>
          </a:prstGeom>
          <a:solidFill>
            <a:schemeClr val="tx2"/>
          </a:solidFill>
          <a:ln w="9525">
            <a:solidFill>
              <a:srgbClr val="25304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49240" y="1508760"/>
            <a:ext cx="457200" cy="457200"/>
          </a:xfrm>
          <a:prstGeom prst="ellipse">
            <a:avLst/>
          </a:prstGeom>
          <a:solidFill>
            <a:srgbClr val="0D111B"/>
          </a:solidFill>
          <a:ln w="19050">
            <a:solidFill>
              <a:srgbClr val="22C58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34924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349240" y="214884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 a Trade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349240" y="274320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Backend validates instrument, quantity, price, cash and fees.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104888" y="2514600"/>
            <a:ext cx="283464" cy="0"/>
          </a:xfrm>
          <a:prstGeom prst="line">
            <a:avLst/>
          </a:prstGeom>
          <a:noFill/>
          <a:ln w="19050">
            <a:solidFill>
              <a:schemeClr val="bg2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406640" y="1280160"/>
            <a:ext cx="1965960" cy="2468880"/>
          </a:xfrm>
          <a:prstGeom prst="roundRect">
            <a:avLst>
              <a:gd name="adj" fmla="val 3721"/>
            </a:avLst>
          </a:prstGeom>
          <a:solidFill>
            <a:schemeClr val="tx2"/>
          </a:solidFill>
          <a:ln w="9525">
            <a:solidFill>
              <a:srgbClr val="2530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35240" y="1508760"/>
            <a:ext cx="457200" cy="457200"/>
          </a:xfrm>
          <a:prstGeom prst="ellipse">
            <a:avLst/>
          </a:prstGeom>
          <a:solidFill>
            <a:srgbClr val="0D111B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63524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7635240" y="214884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the Portfolio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7635240" y="274320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Database transactions update cash, holdings and records.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9390888" y="2514600"/>
            <a:ext cx="283464" cy="0"/>
          </a:xfrm>
          <a:prstGeom prst="line">
            <a:avLst/>
          </a:prstGeom>
          <a:noFill/>
          <a:ln w="19050">
            <a:solidFill>
              <a:schemeClr val="bg2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9692640" y="1280160"/>
            <a:ext cx="1965960" cy="2468880"/>
          </a:xfrm>
          <a:prstGeom prst="roundRect">
            <a:avLst>
              <a:gd name="adj" fmla="val 3721"/>
            </a:avLst>
          </a:prstGeom>
          <a:solidFill>
            <a:schemeClr val="tx2"/>
          </a:solidFill>
          <a:ln w="9525">
            <a:solidFill>
              <a:srgbClr val="25304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921240" y="1508760"/>
            <a:ext cx="457200" cy="457200"/>
          </a:xfrm>
          <a:prstGeom prst="ellipse">
            <a:avLst/>
          </a:prstGeom>
          <a:solidFill>
            <a:srgbClr val="0D111B"/>
          </a:solidFill>
          <a:ln w="19050">
            <a:solidFill>
              <a:srgbClr val="2DD4E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92124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9921240" y="214884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 Performance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9921240" y="274320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Calculate value, P&amp;L, allocation and historical risk.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48640" y="4023360"/>
            <a:ext cx="6309360" cy="2377440"/>
          </a:xfrm>
          <a:prstGeom prst="roundRect">
            <a:avLst>
              <a:gd name="adj" fmla="val 3077"/>
            </a:avLst>
          </a:prstGeom>
          <a:solidFill>
            <a:schemeClr val="tx2"/>
          </a:solidFill>
          <a:ln w="9525">
            <a:solidFill>
              <a:srgbClr val="253044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22960" y="4160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2"/>
                </a:solidFill>
              </a:rPr>
              <a:t>FINANCIAL LOGIC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22960" y="4480560"/>
            <a:ext cx="5760720" cy="548640"/>
          </a:xfrm>
          <a:prstGeom prst="roundRect">
            <a:avLst>
              <a:gd name="adj" fmla="val 13333"/>
            </a:avLst>
          </a:prstGeom>
          <a:solidFill>
            <a:srgbClr val="0D111B"/>
          </a:solidFill>
          <a:ln w="9525">
            <a:solidFill>
              <a:srgbClr val="253044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60120" y="45262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Unrealized P&amp;L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960120" y="4718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Current Holding Value − Remaining Cost Basis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22960" y="5120640"/>
            <a:ext cx="5760720" cy="548640"/>
          </a:xfrm>
          <a:prstGeom prst="roundRect">
            <a:avLst>
              <a:gd name="adj" fmla="val 13333"/>
            </a:avLst>
          </a:prstGeom>
          <a:solidFill>
            <a:srgbClr val="0D111B"/>
          </a:solidFill>
          <a:ln w="9525">
            <a:solidFill>
              <a:srgbClr val="253044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60120" y="51663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Return (%)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960120" y="53583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(P&amp;L ÷ Cost Basis) × 100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22960" y="5760720"/>
            <a:ext cx="5760720" cy="548640"/>
          </a:xfrm>
          <a:prstGeom prst="roundRect">
            <a:avLst>
              <a:gd name="adj" fmla="val 13333"/>
            </a:avLst>
          </a:prstGeom>
          <a:solidFill>
            <a:srgbClr val="0D111B"/>
          </a:solidFill>
          <a:ln w="9525">
            <a:solidFill>
              <a:srgbClr val="253044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960120" y="58064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Portfolio Value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960120" y="59984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Available Cash + Current Value of Holdings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132320" y="4023360"/>
            <a:ext cx="4507992" cy="2377440"/>
          </a:xfrm>
          <a:prstGeom prst="roundRect">
            <a:avLst>
              <a:gd name="adj" fmla="val 3077"/>
            </a:avLst>
          </a:prstGeom>
          <a:solidFill>
            <a:schemeClr val="tx2"/>
          </a:solidFill>
          <a:ln w="9525">
            <a:solidFill>
              <a:srgbClr val="253044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7406640" y="4160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5"/>
                </a:solidFill>
              </a:rPr>
              <a:t>EXAMPLE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10195560" y="4114800"/>
            <a:ext cx="1234440" cy="292608"/>
          </a:xfrm>
          <a:prstGeom prst="roundRect">
            <a:avLst>
              <a:gd name="adj" fmla="val 25000"/>
            </a:avLst>
          </a:prstGeom>
          <a:solidFill>
            <a:srgbClr val="0D111B"/>
          </a:solidFill>
          <a:ln w="9525">
            <a:solidFill>
              <a:srgbClr val="FBBF24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10195560" y="411480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SIMULATION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7406640" y="45720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Purchase</a:t>
            </a:r>
            <a:endParaRPr lang="en-US" sz="1300" dirty="0"/>
          </a:p>
        </p:txBody>
      </p:sp>
      <p:sp>
        <p:nvSpPr>
          <p:cNvPr id="48" name="Text 46"/>
          <p:cNvSpPr txBox="1"/>
          <p:nvPr/>
        </p:nvSpPr>
        <p:spPr>
          <a:xfrm>
            <a:off x="9144000" y="4572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10 shares × ₹500 = ₹5,000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7406640" y="4937760"/>
            <a:ext cx="4023360" cy="0"/>
          </a:xfrm>
          <a:prstGeom prst="line">
            <a:avLst/>
          </a:prstGeom>
          <a:noFill/>
          <a:ln w="6350">
            <a:solidFill>
              <a:srgbClr val="253044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7406640" y="497433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Hypothetical price</a:t>
            </a:r>
            <a:endParaRPr lang="en-US" sz="1300" dirty="0"/>
          </a:p>
        </p:txBody>
      </p:sp>
      <p:sp>
        <p:nvSpPr>
          <p:cNvPr id="51" name="Text 49"/>
          <p:cNvSpPr txBox="1"/>
          <p:nvPr/>
        </p:nvSpPr>
        <p:spPr>
          <a:xfrm>
            <a:off x="9144000" y="497433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₹550 per share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7406640" y="5340096"/>
            <a:ext cx="4023360" cy="0"/>
          </a:xfrm>
          <a:prstGeom prst="line">
            <a:avLst/>
          </a:prstGeom>
          <a:noFill/>
          <a:ln w="6350">
            <a:solidFill>
              <a:srgbClr val="253044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7406640" y="537667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Unrealized profit</a:t>
            </a:r>
            <a:endParaRPr lang="en-US" sz="1300" dirty="0"/>
          </a:p>
        </p:txBody>
      </p:sp>
      <p:sp>
        <p:nvSpPr>
          <p:cNvPr id="54" name="Text 52"/>
          <p:cNvSpPr txBox="1"/>
          <p:nvPr/>
        </p:nvSpPr>
        <p:spPr>
          <a:xfrm>
            <a:off x="9144000" y="537667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₹500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7406640" y="5742432"/>
            <a:ext cx="4023360" cy="0"/>
          </a:xfrm>
          <a:prstGeom prst="line">
            <a:avLst/>
          </a:prstGeom>
          <a:noFill/>
          <a:ln w="6350">
            <a:solidFill>
              <a:srgbClr val="253044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7406640" y="577900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Return</a:t>
            </a:r>
            <a:endParaRPr lang="en-US" sz="1300" dirty="0"/>
          </a:p>
        </p:txBody>
      </p:sp>
      <p:sp>
        <p:nvSpPr>
          <p:cNvPr id="57" name="Text 55"/>
          <p:cNvSpPr txBox="1"/>
          <p:nvPr/>
        </p:nvSpPr>
        <p:spPr>
          <a:xfrm>
            <a:off x="9144000" y="57790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10%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7406640" y="6144768"/>
            <a:ext cx="4023360" cy="0"/>
          </a:xfrm>
          <a:prstGeom prst="line">
            <a:avLst/>
          </a:prstGeom>
          <a:noFill/>
          <a:ln w="6350">
            <a:solidFill>
              <a:srgbClr val="253044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7406640" y="614476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All values before fees. Hypothetical prices only.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Building a Smarter Financial Analytics Experience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3566160" cy="3017520"/>
          </a:xfrm>
          <a:prstGeom prst="roundRect">
            <a:avLst>
              <a:gd name="adj" fmla="val 2424"/>
            </a:avLst>
          </a:prstGeom>
          <a:solidFill>
            <a:schemeClr val="tx2"/>
          </a:solidFill>
          <a:ln w="9525">
            <a:solidFill>
              <a:srgbClr val="25304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417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Benefits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965960"/>
            <a:ext cx="3063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Unified market and portfolio workspace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Automated portfolio calculations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Interactive historical charts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Safe paper-trading experience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Clear allocation and risk indicators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297680" y="1234440"/>
            <a:ext cx="3566160" cy="3017520"/>
          </a:xfrm>
          <a:prstGeom prst="roundRect">
            <a:avLst>
              <a:gd name="adj" fmla="val 2424"/>
            </a:avLst>
          </a:prstGeom>
          <a:solidFill>
            <a:schemeClr val="tx2"/>
          </a:solidFill>
          <a:ln w="9525">
            <a:solidFill>
              <a:srgbClr val="25304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0" y="1417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and Reliability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572000" y="1965960"/>
            <a:ext cx="3063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Backend-validated simulated trades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Protected API credentials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Persistent transaction records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Graceful API error handling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Clearly labeled demo and delayed data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046720" y="1234440"/>
            <a:ext cx="3566160" cy="3017520"/>
          </a:xfrm>
          <a:prstGeom prst="roundRect">
            <a:avLst>
              <a:gd name="adj" fmla="val 2424"/>
            </a:avLst>
          </a:prstGeom>
          <a:solidFill>
            <a:schemeClr val="tx2"/>
          </a:solidFill>
          <a:ln w="9525">
            <a:solidFill>
              <a:srgbClr val="25304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21040" y="1417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Enhancements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8321040" y="1965960"/>
            <a:ext cx="3063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Custom price alerts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Rule-based strategy backtesting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Downloadable portfolio reports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Additional market data integrations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Cloud deployment and monitoring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526280"/>
            <a:ext cx="11091672" cy="1874520"/>
          </a:xfrm>
          <a:prstGeom prst="roundRect">
            <a:avLst>
              <a:gd name="adj" fmla="val 3902"/>
            </a:avLst>
          </a:prstGeom>
          <a:solidFill>
            <a:srgbClr val="0D111B"/>
          </a:solidFill>
          <a:ln w="9525">
            <a:solidFill>
              <a:srgbClr val="25304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863840" y="4709160"/>
            <a:ext cx="3566160" cy="0"/>
          </a:xfrm>
          <a:prstGeom prst="line">
            <a:avLst/>
          </a:prstGeom>
          <a:noFill/>
          <a:ln w="6350">
            <a:solidFill>
              <a:srgbClr val="25304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63840" y="5086350"/>
            <a:ext cx="3566160" cy="0"/>
          </a:xfrm>
          <a:prstGeom prst="line">
            <a:avLst/>
          </a:prstGeom>
          <a:noFill/>
          <a:ln w="6350">
            <a:solidFill>
              <a:srgbClr val="25304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63840" y="5463540"/>
            <a:ext cx="3566160" cy="0"/>
          </a:xfrm>
          <a:prstGeom prst="line">
            <a:avLst/>
          </a:prstGeom>
          <a:noFill/>
          <a:ln w="6350">
            <a:solidFill>
              <a:srgbClr val="25304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863840" y="5840730"/>
            <a:ext cx="3566160" cy="0"/>
          </a:xfrm>
          <a:prstGeom prst="line">
            <a:avLst/>
          </a:prstGeom>
          <a:noFill/>
          <a:ln w="6350">
            <a:solidFill>
              <a:srgbClr val="25304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863840" y="6217920"/>
            <a:ext cx="3566160" cy="0"/>
          </a:xfrm>
          <a:prstGeom prst="line">
            <a:avLst/>
          </a:prstGeom>
          <a:noFill/>
          <a:ln w="6350">
            <a:solidFill>
              <a:srgbClr val="25304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75282" y="5748117"/>
            <a:ext cx="0" cy="183763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12875" y="5807630"/>
            <a:ext cx="124816" cy="62669"/>
          </a:xfrm>
          <a:prstGeom prst="rect">
            <a:avLst/>
          </a:prstGeom>
          <a:solidFill>
            <a:schemeClr val="accent6"/>
          </a:solidFill>
          <a:ln w="3175">
            <a:solidFill>
              <a:schemeClr val="accent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98167" y="5791506"/>
            <a:ext cx="0" cy="16956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35760" y="5870299"/>
            <a:ext cx="124816" cy="27432"/>
          </a:xfrm>
          <a:prstGeom prst="rect">
            <a:avLst/>
          </a:prstGeom>
          <a:solidFill>
            <a:schemeClr val="accent6"/>
          </a:solidFill>
          <a:ln w="3175">
            <a:solidFill>
              <a:schemeClr val="accent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421053" y="5729836"/>
            <a:ext cx="0" cy="308051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358645" y="5872418"/>
            <a:ext cx="124816" cy="86508"/>
          </a:xfrm>
          <a:prstGeom prst="rect">
            <a:avLst/>
          </a:prstGeom>
          <a:solidFill>
            <a:schemeClr val="accent6"/>
          </a:solidFill>
          <a:ln w="3175">
            <a:solidFill>
              <a:schemeClr val="accent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643937" y="5804661"/>
            <a:ext cx="0" cy="413259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581530" y="5958926"/>
            <a:ext cx="124816" cy="114574"/>
          </a:xfrm>
          <a:prstGeom prst="rect">
            <a:avLst/>
          </a:prstGeom>
          <a:solidFill>
            <a:schemeClr val="accent6"/>
          </a:solidFill>
          <a:ln w="3175">
            <a:solidFill>
              <a:schemeClr val="accent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866822" y="5711793"/>
            <a:ext cx="0" cy="485895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804415" y="5832767"/>
            <a:ext cx="124816" cy="240732"/>
          </a:xfrm>
          <a:prstGeom prst="rect">
            <a:avLst/>
          </a:prstGeom>
          <a:solidFill>
            <a:schemeClr val="accent3"/>
          </a:solidFill>
          <a:ln w="3175">
            <a:solidFill>
              <a:schemeClr val="accent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089707" y="5748842"/>
            <a:ext cx="0" cy="338367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027300" y="5832767"/>
            <a:ext cx="124816" cy="154848"/>
          </a:xfrm>
          <a:prstGeom prst="rect">
            <a:avLst/>
          </a:prstGeom>
          <a:solidFill>
            <a:schemeClr val="accent6"/>
          </a:solidFill>
          <a:ln w="3175">
            <a:solidFill>
              <a:schemeClr val="accent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312593" y="5837068"/>
            <a:ext cx="0" cy="263081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250185" y="5946037"/>
            <a:ext cx="124816" cy="41578"/>
          </a:xfrm>
          <a:prstGeom prst="rect">
            <a:avLst/>
          </a:prstGeom>
          <a:solidFill>
            <a:schemeClr val="accent3"/>
          </a:solidFill>
          <a:ln w="3175">
            <a:solidFill>
              <a:schemeClr val="accent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535478" y="5864712"/>
            <a:ext cx="0" cy="209426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473070" y="5912387"/>
            <a:ext cx="124816" cy="33650"/>
          </a:xfrm>
          <a:prstGeom prst="rect">
            <a:avLst/>
          </a:prstGeom>
          <a:solidFill>
            <a:schemeClr val="accent3"/>
          </a:solidFill>
          <a:ln w="3175">
            <a:solidFill>
              <a:schemeClr val="accent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758362" y="5766486"/>
            <a:ext cx="0" cy="226387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695955" y="5816076"/>
            <a:ext cx="124816" cy="96311"/>
          </a:xfrm>
          <a:prstGeom prst="rect">
            <a:avLst/>
          </a:prstGeom>
          <a:solidFill>
            <a:schemeClr val="accent3"/>
          </a:solidFill>
          <a:ln w="3175">
            <a:solidFill>
              <a:schemeClr val="accent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981247" y="5627026"/>
            <a:ext cx="0" cy="339289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918840" y="5721012"/>
            <a:ext cx="124816" cy="95063"/>
          </a:xfrm>
          <a:prstGeom prst="rect">
            <a:avLst/>
          </a:prstGeom>
          <a:solidFill>
            <a:schemeClr val="accent3"/>
          </a:solidFill>
          <a:ln w="3175">
            <a:solidFill>
              <a:schemeClr val="accent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204132" y="5481672"/>
            <a:ext cx="0" cy="321280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141725" y="5621416"/>
            <a:ext cx="124816" cy="99596"/>
          </a:xfrm>
          <a:prstGeom prst="rect">
            <a:avLst/>
          </a:prstGeom>
          <a:solidFill>
            <a:schemeClr val="accent3"/>
          </a:solidFill>
          <a:ln w="3175">
            <a:solidFill>
              <a:schemeClr val="accent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427018" y="5397380"/>
            <a:ext cx="0" cy="317696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364610" y="5451725"/>
            <a:ext cx="124816" cy="169691"/>
          </a:xfrm>
          <a:prstGeom prst="rect">
            <a:avLst/>
          </a:prstGeom>
          <a:solidFill>
            <a:schemeClr val="accent3"/>
          </a:solidFill>
          <a:ln w="3175">
            <a:solidFill>
              <a:schemeClr val="accent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649902" y="5212865"/>
            <a:ext cx="0" cy="297507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587495" y="5378156"/>
            <a:ext cx="124816" cy="73569"/>
          </a:xfrm>
          <a:prstGeom prst="rect">
            <a:avLst/>
          </a:prstGeom>
          <a:solidFill>
            <a:schemeClr val="accent3"/>
          </a:solidFill>
          <a:ln w="3175">
            <a:solidFill>
              <a:schemeClr val="accent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872787" y="4968475"/>
            <a:ext cx="0" cy="538277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810380" y="5121408"/>
            <a:ext cx="124816" cy="256748"/>
          </a:xfrm>
          <a:prstGeom prst="rect">
            <a:avLst/>
          </a:prstGeom>
          <a:solidFill>
            <a:schemeClr val="accent3"/>
          </a:solidFill>
          <a:ln w="3175">
            <a:solidFill>
              <a:schemeClr val="accent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1095672" y="4905640"/>
            <a:ext cx="0" cy="312678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1033265" y="4986317"/>
            <a:ext cx="124816" cy="135090"/>
          </a:xfrm>
          <a:prstGeom prst="rect">
            <a:avLst/>
          </a:prstGeom>
          <a:solidFill>
            <a:schemeClr val="accent3"/>
          </a:solidFill>
          <a:ln w="3175">
            <a:solidFill>
              <a:schemeClr val="accent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1318557" y="4709160"/>
            <a:ext cx="0" cy="330519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1256150" y="4823387"/>
            <a:ext cx="124816" cy="162930"/>
          </a:xfrm>
          <a:prstGeom prst="rect">
            <a:avLst/>
          </a:prstGeom>
          <a:solidFill>
            <a:schemeClr val="accent3"/>
          </a:solidFill>
          <a:ln w="3175">
            <a:solidFill>
              <a:schemeClr val="accent3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914400" y="480060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TRADEPILOT</a:t>
            </a:r>
            <a:endParaRPr lang="en-US" sz="4000" dirty="0"/>
          </a:p>
        </p:txBody>
      </p:sp>
      <p:sp>
        <p:nvSpPr>
          <p:cNvPr id="51" name="Text 49"/>
          <p:cNvSpPr txBox="1"/>
          <p:nvPr/>
        </p:nvSpPr>
        <p:spPr>
          <a:xfrm>
            <a:off x="914400" y="55321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2"/>
                </a:solidFill>
              </a:rPr>
              <a:t>Smarter Insights. Safer Simulation. Better Decisions.</a:t>
            </a:r>
            <a:endParaRPr lang="en-US" sz="1800" dirty="0"/>
          </a:p>
        </p:txBody>
      </p:sp>
      <p:sp>
        <p:nvSpPr>
          <p:cNvPr id="52" name="Text 50"/>
          <p:cNvSpPr txBox="1"/>
          <p:nvPr/>
        </p:nvSpPr>
        <p:spPr>
          <a:xfrm>
            <a:off x="914400" y="59436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Presented by </a:t>
            </a:r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Ajay Prasath P</a:t>
            </a:r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  ·  Roll Number </a:t>
            </a:r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240701023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radePilot Dark">
  <a:themeElements>
    <a:clrScheme name="TradePilot Dark">
      <a:dk1>
        <a:srgbClr val="080B12"/>
      </a:dk1>
      <a:lt1>
        <a:srgbClr val="F2F6FC"/>
      </a:lt1>
      <a:dk2>
        <a:srgbClr val="111827"/>
      </a:dk2>
      <a:lt2>
        <a:srgbClr val="9AA6BA"/>
      </a:lt2>
      <a:accent1>
        <a:srgbClr val="388BFD"/>
      </a:accent1>
      <a:accent2>
        <a:srgbClr val="2DD4E6"/>
      </a:accent2>
      <a:accent3>
        <a:srgbClr val="22C58C"/>
      </a:accent3>
      <a:accent4>
        <a:srgbClr val="A78BFA"/>
      </a:accent4>
      <a:accent5>
        <a:srgbClr val="FBBF24"/>
      </a:accent5>
      <a:accent6>
        <a:srgbClr val="F87171"/>
      </a:accent6>
      <a:hlink>
        <a:srgbClr val="388BFD"/>
      </a:hlink>
      <a:folHlink>
        <a:srgbClr val="A78BFA"/>
      </a:folHlink>
    </a:clrScheme>
    <a:fontScheme name="TradePilot Dark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TradePilot</dc:title>
  <dc:subject>PptxGenJS Presentation</dc:subject>
  <dc:creator>Ajay Prasath P</dc:creator>
  <cp:lastModifiedBy>Ajay Prasath P</cp:lastModifiedBy>
  <cp:revision>1</cp:revision>
  <dcterms:created xsi:type="dcterms:W3CDTF">2026-10-20T16:40:05Z</dcterms:created>
  <dcterms:modified xsi:type="dcterms:W3CDTF">2026-10-20T16:40:05Z</dcterms:modified>
</cp:coreProperties>
</file>